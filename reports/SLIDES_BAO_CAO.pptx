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3.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92e25b06-28b4-e094-4ad6-94d76af93d44}">
          <p14:sldIdLst>
            <p14:sldId id="256"/>
            <p14:sldId id="257"/>
          </p14:sldIdLst>
        </p14:section>
        <p14:section name="Dữ liệu" id="{95c1cd29-f427-967e-7953-51caa9eeb96d}">
          <p14:sldIdLst>
            <p14:sldId id="258"/>
            <p14:sldId id="259"/>
            <p14:sldId id="260"/>
            <p14:sldId id="261"/>
          </p14:sldIdLst>
        </p14:section>
        <p14:section name="Phân tích" id="{1d42b16a-90dc-06e0-023d-138be6ec42c3}">
          <p14:sldIdLst>
            <p14:sldId id="262"/>
          </p14:sldIdLst>
        </p14:section>
        <p14:section name="Học máy" id="{f99c8ba6-8229-25aa-91c7-0c6356ab63db}">
          <p14:sldIdLst>
            <p14:sldId id="263"/>
            <p14:sldId id="264"/>
          </p14:sldIdLst>
        </p14:section>
        <p14:section name="Hệ thống" id="{834429cb-11c4-bae1-0fb1-29e8f766401f}">
          <p14:sldIdLst>
            <p14:sldId id="265"/>
            <p14:sldId id="266"/>
          </p14:sldIdLst>
        </p14:section>
        <p14:section name="Kết luận" id="{fc405ea8-e299-9709-e610-86765ba310c2}">
          <p14:sldIdLst>
            <p14:sldId id="267"/>
            <p14:sldId id="268"/>
            <p14:sldId id="269"/>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142"/>
                </a:solidFill>
                <a:latin typeface="+mn-lt"/>
              </a:defRPr>
            </a:pPr>
            <a:r>
              <a:rPr sz="1300" b="0" i="0" u="none" strike="noStrike">
                <a:solidFill>
                  <a:srgbClr val="1E2142"/>
                </a:solidFill>
                <a:latin typeface="+mn-lt"/>
              </a:rPr>
              <a:t>Số sản phẩm theo nhà bán lẻ</a:t>
            </a:r>
          </a:p>
        </c:rich>
      </c:tx>
      <c:layout/>
      <c:overlay val="0"/>
    </c:title>
    <c:autoTitleDeleted val="0"/>
    <c:plotArea>
      <c:layout/>
      <c:barChart>
        <c:barDir val="col"/>
        <c:grouping val="clustered"/>
        <c:varyColors val="0"/>
        <c:ser>
          <c:idx val="0"/>
          <c:order val="0"/>
          <c:tx>
            <c:strRef>
              <c:f>Sheet1!$B$1</c:f>
              <c:strCache>
                <c:ptCount val="1"/>
                <c:pt idx="0">
                  <c:v>Số sản phẩm</c:v>
                </c:pt>
              </c:strCache>
            </c:strRef>
          </c:tx>
          <c:spPr>
            <a:solidFill>
              <a:srgbClr val="4F46E5"/>
            </a:solidFill>
            <a:effectLst/>
          </c:spPr>
          <c:invertIfNegative val="0"/>
          <c:dLbls>
            <c:numFmt formatCode="#,##0" sourceLinked="0"/>
            <c:txPr>
              <a:bodyPr/>
              <a:lstStyle/>
              <a:p>
                <a:pPr>
                  <a:defRPr b="0" i="0" strike="noStrike" sz="1000" u="none">
                    <a:solidFill>
                      <a:srgbClr val="4B5163"/>
                    </a:solidFill>
                    <a:latin typeface="+mn-lt"/>
                  </a:defRPr>
                </a:pPr>
              </a:p>
            </c:txPr>
            <c:showLegendKey val="0"/>
            <c:showVal val="1"/>
            <c:showCatName val="0"/>
            <c:showSerName val="0"/>
            <c:showPercent val="0"/>
            <c:showBubbleSize val="0"/>
            <c:showLeaderLines val="0"/>
          </c:dLbls>
          <c:cat>
            <c:multiLvlStrRef>
              <c:f>Sheet1!$A$2:$A$6</c:f>
              <c:multiLvlStrCache>
                <c:ptCount val="5"/>
                <c:lvl>
                  <c:pt idx="0">
                    <c:v>Hasaki</c:v>
                  </c:pt>
                  <c:pt idx="1">
                    <c:v>Watsons</c:v>
                  </c:pt>
                  <c:pt idx="2">
                    <c:v>Guardian</c:v>
                  </c:pt>
                  <c:pt idx="3">
                    <c:v>Cocolux</c:v>
                  </c:pt>
                  <c:pt idx="4">
                    <c:v>TG Skin Food</c:v>
                  </c:pt>
                </c:lvl>
              </c:multiLvlStrCache>
            </c:multiLvlStrRef>
          </c:cat>
          <c:val>
            <c:numRef>
              <c:f>Sheet1!$B$2:$B$6</c:f>
              <c:numCache>
                <c:formatCode>General</c:formatCode>
                <c:ptCount val="5"/>
                <c:pt idx="0">
                  <c:v>1767</c:v>
                </c:pt>
                <c:pt idx="1">
                  <c:v>1683</c:v>
                </c:pt>
                <c:pt idx="2">
                  <c:v>984</c:v>
                </c:pt>
                <c:pt idx="3">
                  <c:v>724</c:v>
                </c:pt>
                <c:pt idx="4">
                  <c:v>499</c:v>
                </c:pt>
              </c:numCache>
            </c:numRef>
          </c:val>
        </c:ser>
        <c:dLbls>
          <c:numFmt formatCode="#,##0" sourceLinked="0"/>
          <c:txPr>
            <a:bodyPr/>
            <a:lstStyle/>
            <a:p>
              <a:pPr>
                <a:defRPr b="0" i="0" strike="noStrike" sz="1000" u="none">
                  <a:solidFill>
                    <a:srgbClr val="4B516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2000"/>
        </c:scaling>
        <c:delete val="0"/>
        <c:axPos val="l"/>
        <c:majorGridlines>
          <c:spPr>
            <a:ln w="12700" cap="flat">
              <a:solidFill>
                <a:srgbClr val="E8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142"/>
                </a:solidFill>
                <a:latin typeface="+mn-lt"/>
              </a:defRPr>
            </a:pPr>
            <a:r>
              <a:rPr sz="1300" b="0" i="0" u="none" strike="noStrike">
                <a:solidFill>
                  <a:srgbClr val="1E2142"/>
                </a:solidFill>
                <a:latin typeface="+mn-lt"/>
              </a:rPr>
              <a:t>Giá trung bình theo danh mục (nghìn đ)</a:t>
            </a:r>
          </a:p>
        </c:rich>
      </c:tx>
      <c:layout/>
      <c:overlay val="0"/>
    </c:title>
    <c:autoTitleDeleted val="0"/>
    <c:plotArea>
      <c:layout/>
      <c:barChart>
        <c:barDir val="bar"/>
        <c:grouping val="clustered"/>
        <c:varyColors val="0"/>
        <c:ser>
          <c:idx val="0"/>
          <c:order val="0"/>
          <c:tx>
            <c:strRef>
              <c:f>Sheet1!$B$1</c:f>
              <c:strCache>
                <c:ptCount val="1"/>
                <c:pt idx="0">
                  <c:v>Giá trung bình (nghìn đồng)</c:v>
                </c:pt>
              </c:strCache>
            </c:strRef>
          </c:tx>
          <c:spPr>
            <a:solidFill>
              <a:srgbClr val="1BAF7A"/>
            </a:solidFill>
            <a:effectLst/>
          </c:spPr>
          <c:invertIfNegative val="0"/>
          <c:dLbls>
            <c:numFmt formatCode="#,##0" sourceLinked="0"/>
            <c:txPr>
              <a:bodyPr/>
              <a:lstStyle/>
              <a:p>
                <a:pPr>
                  <a:defRPr b="0" i="0" strike="noStrike" sz="1000" u="none">
                    <a:solidFill>
                      <a:srgbClr val="4B5163"/>
                    </a:solidFill>
                    <a:latin typeface="+mn-lt"/>
                  </a:defRPr>
                </a:pPr>
              </a:p>
            </c:txPr>
            <c:showLegendKey val="0"/>
            <c:showVal val="1"/>
            <c:showCatName val="0"/>
            <c:showSerName val="0"/>
            <c:showPercent val="0"/>
            <c:showBubbleSize val="0"/>
            <c:showLeaderLines val="0"/>
          </c:dLbls>
          <c:cat>
            <c:multiLvlStrRef>
              <c:f>Sheet1!$A$2:$A$7</c:f>
              <c:multiLvlStrCache>
                <c:ptCount val="6"/>
                <c:lvl>
                  <c:pt idx="0">
                    <c:v>Serum</c:v>
                  </c:pt>
                  <c:pt idx="1">
                    <c:v>Kem chống nắng</c:v>
                  </c:pt>
                  <c:pt idx="2">
                    <c:v>Tẩy trang</c:v>
                  </c:pt>
                  <c:pt idx="3">
                    <c:v>Sữa rửa mặt</c:v>
                  </c:pt>
                  <c:pt idx="4">
                    <c:v>Tẩy TB chết</c:v>
                  </c:pt>
                  <c:pt idx="5">
                    <c:v>Sữa tắm</c:v>
                  </c:pt>
                </c:lvl>
              </c:multiLvlStrCache>
            </c:multiLvlStrRef>
          </c:cat>
          <c:val>
            <c:numRef>
              <c:f>Sheet1!$B$2:$B$7</c:f>
              <c:numCache>
                <c:formatCode>General</c:formatCode>
                <c:ptCount val="6"/>
                <c:pt idx="0">
                  <c:v>491</c:v>
                </c:pt>
                <c:pt idx="1">
                  <c:v>323</c:v>
                </c:pt>
                <c:pt idx="2">
                  <c:v>239</c:v>
                </c:pt>
                <c:pt idx="3">
                  <c:v>239</c:v>
                </c:pt>
                <c:pt idx="4">
                  <c:v>232</c:v>
                </c:pt>
                <c:pt idx="5">
                  <c:v>222</c:v>
                </c:pt>
              </c:numCache>
            </c:numRef>
          </c:val>
        </c:ser>
        <c:dLbls>
          <c:numFmt formatCode="#,##0" sourceLinked="0"/>
          <c:txPr>
            <a:bodyPr/>
            <a:lstStyle/>
            <a:p>
              <a:pPr>
                <a:defRPr b="0" i="0" strike="noStrike" sz="1000" u="none">
                  <a:solidFill>
                    <a:srgbClr val="4B516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600"/>
        </c:scaling>
        <c:delete val="0"/>
        <c:axPos val="b"/>
        <c:majorGridlines>
          <c:spPr>
            <a:ln w="12700" cap="flat">
              <a:solidFill>
                <a:srgbClr val="E8EA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50" b="0" i="0" u="none" strike="noStrike">
                <a:solidFill>
                  <a:srgbClr val="1E2142"/>
                </a:solidFill>
                <a:latin typeface="+mn-lt"/>
              </a:defRPr>
            </a:pPr>
            <a:r>
              <a:rPr sz="1250" b="0" i="0" u="none" strike="noStrike">
                <a:solidFill>
                  <a:srgbClr val="1E2142"/>
                </a:solidFill>
                <a:latin typeface="+mn-lt"/>
              </a:rPr>
              <a:t>Sai số MAE trên tập validation — càng thấp càng tốt</a:t>
            </a:r>
          </a:p>
        </c:rich>
      </c:tx>
      <c:layout/>
      <c:overlay val="0"/>
    </c:title>
    <c:autoTitleDeleted val="0"/>
    <c:plotArea>
      <c:layout/>
      <c:barChart>
        <c:barDir val="col"/>
        <c:grouping val="clustered"/>
        <c:varyColors val="0"/>
        <c:ser>
          <c:idx val="0"/>
          <c:order val="0"/>
          <c:tx>
            <c:strRef>
              <c:f>Sheet1!$B$1</c:f>
              <c:strCache>
                <c:ptCount val="1"/>
                <c:pt idx="0">
                  <c:v>MAE (nghìn đồng)</c:v>
                </c:pt>
              </c:strCache>
            </c:strRef>
          </c:tx>
          <c:spPr>
            <a:solidFill>
              <a:srgbClr val="E87BA4"/>
            </a:solidFill>
            <a:effectLst/>
          </c:spPr>
          <c:invertIfNegative val="0"/>
          <c:dLbls>
            <c:numFmt formatCode="#,##0" sourceLinked="0"/>
            <c:txPr>
              <a:bodyPr/>
              <a:lstStyle/>
              <a:p>
                <a:pPr>
                  <a:defRPr b="0" i="0" strike="noStrike" sz="1000" u="none">
                    <a:solidFill>
                      <a:srgbClr val="4B5163"/>
                    </a:solidFill>
                    <a:latin typeface="+mn-lt"/>
                  </a:defRPr>
                </a:pPr>
              </a:p>
            </c:txPr>
            <c:showLegendKey val="0"/>
            <c:showVal val="1"/>
            <c:showCatName val="0"/>
            <c:showSerName val="0"/>
            <c:showPercent val="0"/>
            <c:showBubbleSize val="0"/>
            <c:showLeaderLines val="0"/>
          </c:dLbls>
          <c:cat>
            <c:multiLvlStrRef>
              <c:f>Sheet1!$A$2:$A$5</c:f>
              <c:multiLvlStrCache>
                <c:ptCount val="4"/>
                <c:lvl>
                  <c:pt idx="0">
                    <c:v>Dummy (mốc)</c:v>
                  </c:pt>
                  <c:pt idx="1">
                    <c:v>Ridge</c:v>
                  </c:pt>
                  <c:pt idx="2">
                    <c:v>Extra Trees</c:v>
                  </c:pt>
                  <c:pt idx="3">
                    <c:v>Random Forest</c:v>
                  </c:pt>
                </c:lvl>
              </c:multiLvlStrCache>
            </c:multiLvlStrRef>
          </c:cat>
          <c:val>
            <c:numRef>
              <c:f>Sheet1!$B$2:$B$5</c:f>
              <c:numCache>
                <c:formatCode>General</c:formatCode>
                <c:ptCount val="4"/>
                <c:pt idx="0">
                  <c:v>171</c:v>
                </c:pt>
                <c:pt idx="1">
                  <c:v>110</c:v>
                </c:pt>
                <c:pt idx="2">
                  <c:v>99</c:v>
                </c:pt>
                <c:pt idx="3">
                  <c:v>94</c:v>
                </c:pt>
              </c:numCache>
            </c:numRef>
          </c:val>
        </c:ser>
        <c:dLbls>
          <c:numFmt formatCode="#,##0" sourceLinked="0"/>
          <c:txPr>
            <a:bodyPr/>
            <a:lstStyle/>
            <a:p>
              <a:pPr>
                <a:defRPr b="0" i="0" strike="noStrike" sz="1000" u="none">
                  <a:solidFill>
                    <a:srgbClr val="4B516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12700" cap="flat">
              <a:solidFill>
                <a:srgbClr val="E8EAF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E2142"/>
                </a:solidFill>
                <a:latin typeface="+mn-lt"/>
              </a:defRPr>
            </a:pPr>
            <a:r>
              <a:rPr sz="1300" b="0" i="0" u="none" strike="noStrike">
                <a:solidFill>
                  <a:srgbClr val="1E2142"/>
                </a:solidFill>
                <a:latin typeface="+mn-lt"/>
              </a:rPr>
              <a:t>Đặc trưng nào quyết định giá (%)</a:t>
            </a:r>
          </a:p>
        </c:rich>
      </c:tx>
      <c:layout/>
      <c:overlay val="0"/>
    </c:title>
    <c:autoTitleDeleted val="0"/>
    <c:plotArea>
      <c:layout/>
      <c:barChart>
        <c:barDir val="bar"/>
        <c:grouping val="clustered"/>
        <c:varyColors val="0"/>
        <c:ser>
          <c:idx val="0"/>
          <c:order val="0"/>
          <c:tx>
            <c:strRef>
              <c:f>Sheet1!$B$1</c:f>
              <c:strCache>
                <c:ptCount val="1"/>
                <c:pt idx="0">
                  <c:v>Độ quan trọng (%)</c:v>
                </c:pt>
              </c:strCache>
            </c:strRef>
          </c:tx>
          <c:spPr>
            <a:solidFill>
              <a:srgbClr val="4F46E5"/>
            </a:solidFill>
            <a:effectLst/>
          </c:spPr>
          <c:invertIfNegative val="0"/>
          <c:dLbls>
            <c:numFmt formatCode="#,##0" sourceLinked="0"/>
            <c:txPr>
              <a:bodyPr/>
              <a:lstStyle/>
              <a:p>
                <a:pPr>
                  <a:defRPr b="0" i="0" strike="noStrike" sz="1000" u="none">
                    <a:solidFill>
                      <a:srgbClr val="4B5163"/>
                    </a:solidFill>
                    <a:latin typeface="+mn-lt"/>
                  </a:defRPr>
                </a:pPr>
              </a:p>
            </c:txPr>
            <c:showLegendKey val="0"/>
            <c:showVal val="1"/>
            <c:showCatName val="0"/>
            <c:showSerName val="0"/>
            <c:showPercent val="0"/>
            <c:showBubbleSize val="0"/>
            <c:showLeaderLines val="0"/>
          </c:dLbls>
          <c:cat>
            <c:multiLvlStrRef>
              <c:f>Sheet1!$A$2:$A$7</c:f>
              <c:multiLvlStrCache>
                <c:ptCount val="6"/>
                <c:lvl>
                  <c:pt idx="0">
                    <c:v>Thương hiệu</c:v>
                  </c:pt>
                  <c:pt idx="1">
                    <c:v>Dung tích</c:v>
                  </c:pt>
                  <c:pt idx="2">
                    <c:v>Danh mục</c:v>
                  </c:pt>
                  <c:pt idx="3">
                    <c:v>Khối lượng</c:v>
                  </c:pt>
                  <c:pt idx="4">
                    <c:v>Nhà bán lẻ</c:v>
                  </c:pt>
                  <c:pt idx="5">
                    <c:v>Số đánh giá</c:v>
                  </c:pt>
                </c:lvl>
              </c:multiLvlStrCache>
            </c:multiLvlStrRef>
          </c:cat>
          <c:val>
            <c:numRef>
              <c:f>Sheet1!$B$2:$B$7</c:f>
              <c:numCache>
                <c:formatCode>General</c:formatCode>
                <c:ptCount val="6"/>
                <c:pt idx="0">
                  <c:v>38.3</c:v>
                </c:pt>
                <c:pt idx="1">
                  <c:v>26</c:v>
                </c:pt>
                <c:pt idx="2">
                  <c:v>12.4</c:v>
                </c:pt>
                <c:pt idx="3">
                  <c:v>6.1</c:v>
                </c:pt>
                <c:pt idx="4">
                  <c:v>5.9</c:v>
                </c:pt>
                <c:pt idx="5">
                  <c:v>2.8</c:v>
                </c:pt>
              </c:numCache>
            </c:numRef>
          </c:val>
        </c:ser>
        <c:dLbls>
          <c:numFmt formatCode="#,##0" sourceLinked="0"/>
          <c:txPr>
            <a:bodyPr/>
            <a:lstStyle/>
            <a:p>
              <a:pPr>
                <a:defRPr b="0" i="0" strike="noStrike" sz="1000" u="none">
                  <a:solidFill>
                    <a:srgbClr val="4B5163"/>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2"/>
        <c:crosses val="autoZero"/>
        <c:auto val="1"/>
        <c:lblAlgn val="ctr"/>
        <c:noMultiLvlLbl val="1"/>
      </c:catAx>
      <c:valAx>
        <c:axId val="2094734552"/>
        <c:scaling>
          <c:orientation val="minMax"/>
          <c:max val="45"/>
        </c:scaling>
        <c:delete val="0"/>
        <c:axPos val="b"/>
        <c:majorGridlines>
          <c:spPr>
            <a:ln w="12700" cap="flat">
              <a:solidFill>
                <a:srgbClr val="E8EAF2"/>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B7280"/>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cô và các bạn. Nhóm em trình bày đồ án BeautyPrice Intelligence: hệ thống thu thập, phân tích và dự đoán giá mỹ phẩm từ 5 nhà bán lẻ trực tuyến tại Việt Nam.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Vấn đề: giá mỹ phẩm chênh lệch nhiều giữa các website và khuyến mãi thay đổi liên tục. Nhóm đặt mục tiêu tổng hợp dữ liệu, làm sạch, rồi dự đoán giá và đưa lên website. Quy mô dữ liệu: 5.657 sản phẩm, 6.350 bản ghi giá, 6.673 đánh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gồm 4 tầng nối với nhau qua một CSDL SQLite duy nhất. Điểm quan trọng là mọi tầng đều ghi lại dấu vết để có thể kiểm chứng.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tự xây công cụ thu thập chỉ dùng thư viện chuẩn Python. Ba nguồn lấy được qua API công khai. Guardian và Watsons bật chống bot nên nhóm chỉ ghi nhận trạng thái và không vượt rào, đúng nguyên tắc đạo đức thu thập dữ liệu.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liệt kê các vấn đề thật trong dữ liệu và cách xử lý từng vấn đề. Điểm nhóm muốn nhấn mạnh: quy trình làm sạch không phải hộp đen, mọi bước đều ghi nhật ký và có chương trình kiểm chứng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CSDL gồm 17 bảng chia 4 nhóm. Nhóm chọn SQLite vì tính di động. Một quy tắc nghiệp vụ nhóm muốn nhấn mạnh là sửa giá thì thêm bản ghi mới chứ không ghi đè, nhờ đó giữ được lịch sử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Về trực quan hóa, nhóm dùng 8 loại biểu đồ khác nhau. Hai biểu đồ ví dụ ở đây cho thấy Hasaki có nhiều sản phẩm nhất, còn Serum là danh mục đắt nhất với giá trung bình 491 nghìn, gấp hơn hai lần sữa tắm.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bài toán gồm hai bài học có giám sát và hai bài không giám sát. Nhóm chú ý tránh rò rỉ dữ liệu: không dùng giá niêm yết làm đặc trưng vì nó suy ra trực tiếp từ giá, và mỗi bài toán đều có mô hình Dummy làm mốc.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Mô hình cho thấy thương hiệu là yếu tố quyết định giá, còn rating gần như không giúp dự đoán vì gần 90% đánh giá là 5 sao. Nhóm cũng nói rõ giới hạn: R² khoảng 0,54 vì thiếu thông tin về thành phần và xuất xứ.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gồm 9 màn hình. Phân quyền được kiểm tra ở cả hai phía: giao diện ẩn nút và backend kiểm tra lại vai trò. Nhóm đã thử sửa vai trò trong trình duyệt và hệ thống vẫn trả về đúng vai trò thật từ server.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Chức năng sao lưu phục hồi gồm 4 bước, quan trọng nhất là bước kiểm tra sau phục hồi. Nhóm không chỉ tạo được tệp sao lưu mà còn chứng minh phục hồi đúng bằng cách xóa dữ liệu rồi phục hồi và đối chiếu.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 nhận định chính của nhóm. Thứ nhất, giảm giá là trạng thái bình thường chứ không phải ngoại lệ. Thứ hai, thị trường rất phân mảnh. Thứ ba, điểm đánh giá gần như vô dụng khi so sánh chất lượng vì gần 90% là 5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Bảng đối chiếu từng yêu cầu của đề bài với kết quả nhóm thực hiện. Cả bốn chức năng điểm cộng đều đã làm.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nói rõ các hạn chế, trong đó quan trọng nhất là dữ liệu mới trải trên 4 ngày và thiếu đặc trưng về sản phẩm. Hướng phát triển chính là bật lịch thu thập hằng ngày để tích lũy lịch sử giá.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xin cảm ơn và sẵn sàng demo trực tiếp hệ thống cũng như trả lời câu hỏi.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2141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103120"/>
            <a:ext cx="10515600" cy="13716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822960" y="3566160"/>
            <a:ext cx="10515600" cy="2011680"/>
          </a:xfrm>
          <a:prstGeom prst="rect">
            <a:avLst/>
          </a:prstGeom>
          <a:noFill/>
          <a:ln/>
        </p:spPr>
        <p:txBody>
          <a:bodyPr wrap="square" rtlCol="0"/>
          <a:lstStyle>
            <a:lvl1pPr algn="l" indent="0" marL="0">
              <a:buNone/>
              <a:defRPr lang="en-US" sz="1600" dirty="0">
                <a:solidFill>
                  <a:srgbClr val="C9CCE0"/>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ph idx="101" type="body" hasCustomPrompt="1"/>
          </p:nvPr>
        </p:nvSpPr>
        <p:spPr>
          <a:xfrm>
            <a:off x="594360" y="1234440"/>
            <a:ext cx="10972800" cy="4937760"/>
          </a:xfrm>
          <a:prstGeom prst="rect">
            <a:avLst/>
          </a:prstGeom>
          <a:noFill/>
          <a:ln/>
        </p:spPr>
        <p:txBody>
          <a:bodyPr wrap="square" rtlCol="0"/>
          <a:lstStyle>
            <a:lvl1pPr algn="l" indent="0" marL="0">
              <a:buNone/>
              <a:defRPr lang="en-US" sz="1500" dirty="0">
                <a:solidFill>
                  <a:schemeClr val="tx1"/>
                </a:solidFill>
              </a:defRPr>
            </a:lvl1pPr>
          </a:lstStyle>
          <a:p>
            <a:pPr algn="l" indent="0" marL="0">
              <a:buNone/>
            </a:pPr>
            <a:endParaRPr lang="en-US" sz="1500" dirty="0"/>
          </a:p>
        </p:txBody>
      </p:sp>
      <p:sp>
        <p:nvSpPr>
          <p:cNvPr id="4" name="Text 0"/>
          <p:cNvSpPr/>
          <p:nvPr/>
        </p:nvSpPr>
        <p:spPr>
          <a:xfrm>
            <a:off x="594360" y="6355080"/>
            <a:ext cx="7315200" cy="274320"/>
          </a:xfrm>
          <a:prstGeom prst="rect">
            <a:avLst/>
          </a:prstGeom>
          <a:noFill/>
          <a:ln/>
        </p:spPr>
        <p:txBody>
          <a:bodyPr wrap="square" lIns="0" tIns="0" rIns="0" bIns="0" rtlCol="0" anchor="ctr"/>
          <a:lstStyle/>
          <a:p>
            <a:pPr indent="0" marL="0">
              <a:buNone/>
            </a:pPr>
            <a:r>
              <a:rPr lang="en-US" sz="1000" dirty="0">
                <a:solidFill>
                  <a:srgbClr val="8A90A2"/>
                </a:solidFill>
              </a:rPr>
              <a:t>BeautyPrice Intelligence · ABDA433708</a:t>
            </a:r>
            <a:endParaRPr lang="en-US" sz="1000" dirty="0"/>
          </a:p>
        </p:txBody>
      </p:sp>
      <p:sp>
        <p:nvSpPr>
          <p:cNvPr id="5" name="Text 1"/>
          <p:cNvSpPr/>
          <p:nvPr>
            <p:ph idx="103" hasCustomPrompt="1"/>
          </p:nvPr>
        </p:nvSpPr>
        <p:spPr>
          <a:xfrm>
            <a:off x="11247120" y="6355080"/>
            <a:ext cx="457200" cy="274320"/>
          </a:xfrm>
          <a:prstGeom prst="rect">
            <a:avLst/>
          </a:prstGeom>
          <a:noFill/>
          <a:ln/>
        </p:spPr>
        <p:txBody>
          <a:bodyPr wrap="square" rtlCol="0"/>
          <a:lstStyle>
            <a:lvl1pPr algn="r" indent="0" marL="0">
              <a:buNone/>
              <a:defRPr lang="en-US" sz="1000" dirty="0">
                <a:solidFill>
                  <a:srgbClr val="8A90A2"/>
                </a:solidFill>
              </a:defRPr>
            </a:lvl1pPr>
          </a:lstStyle>
          <a:p>
            <a:pPr algn="r" indent="0" marL="0">
              <a:buNone/>
            </a:pP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glow1"/>
          <p:cNvSpPr/>
          <p:nvPr/>
        </p:nvSpPr>
        <p:spPr>
          <a:xfrm>
            <a:off x="8778240" y="-1463040"/>
            <a:ext cx="5120640" cy="5120640"/>
          </a:xfrm>
          <a:prstGeom prst="ellipse">
            <a:avLst/>
          </a:prstGeom>
          <a:solidFill>
            <a:srgbClr val="2A2470"/>
          </a:solidFill>
          <a:ln w="12700">
            <a:solidFill>
              <a:srgbClr val="2A2470"/>
            </a:solidFill>
            <a:prstDash val="solid"/>
          </a:ln>
        </p:spPr>
      </p:sp>
      <p:sp>
        <p:nvSpPr>
          <p:cNvPr id="3" name="glow2"/>
          <p:cNvSpPr/>
          <p:nvPr/>
        </p:nvSpPr>
        <p:spPr>
          <a:xfrm>
            <a:off x="10241280" y="3566160"/>
            <a:ext cx="3840480" cy="3840480"/>
          </a:xfrm>
          <a:prstGeom prst="ellipse">
            <a:avLst/>
          </a:prstGeom>
          <a:solidFill>
            <a:srgbClr val="16305A"/>
          </a:solidFill>
          <a:ln w="12700">
            <a:solidFill>
              <a:srgbClr val="16305A"/>
            </a:solidFill>
            <a:prstDash val="solid"/>
          </a:ln>
        </p:spPr>
      </p:sp>
      <p:sp>
        <p:nvSpPr>
          <p:cNvPr id="4" name="Text 2"/>
          <p:cNvSpPr txBox="1"/>
          <p:nvPr/>
        </p:nvSpPr>
        <p:spPr>
          <a:xfrm>
            <a:off x="822960" y="1417320"/>
            <a:ext cx="9144000" cy="320040"/>
          </a:xfrm>
          <a:prstGeom prst="rect">
            <a:avLst/>
          </a:prstGeom>
          <a:noFill/>
          <a:ln/>
        </p:spPr>
        <p:txBody>
          <a:bodyPr wrap="square" lIns="0" tIns="0" rIns="0" bIns="0" rtlCol="0" anchor="ctr"/>
          <a:lstStyle/>
          <a:p>
            <a:pPr indent="0" marL="0">
              <a:buNone/>
            </a:pPr>
            <a:r>
              <a:rPr lang="en-US" sz="1250" b="1" spc="200" kern="0" dirty="0">
                <a:solidFill>
                  <a:srgbClr val="8E8BE8"/>
                </a:solidFill>
              </a:rPr>
              <a:t>ĐỒ ÁN · PHÂN TÍCH DỮ LIỆU LỚN TRONG KINH DOANH</a:t>
            </a:r>
            <a:endParaRPr lang="en-US" sz="1250" dirty="0"/>
          </a:p>
        </p:txBody>
      </p:sp>
      <p:sp>
        <p:nvSpPr>
          <p:cNvPr id="5" name="Text 0"/>
          <p:cNvSpPr/>
          <p:nvPr>
            <p:ph idx="100" type="title" hasCustomPrompt="1"/>
          </p:nvPr>
        </p:nvSpPr>
        <p:spPr>
          <a:xfrm>
            <a:off x="822960" y="2103120"/>
            <a:ext cx="10515600" cy="1371600"/>
          </a:xfrm>
          <a:prstGeom prst="rect">
            <a:avLst/>
          </a:prstGeom>
          <a:noFill/>
          <a:ln/>
        </p:spPr>
        <p:txBody>
          <a:bodyPr wrap="square" rtlCol="0"/>
          <a:lstStyle/>
          <a:p>
            <a:pPr algn="l" indent="0" marL="0">
              <a:buNone/>
            </a:pPr>
            <a:r>
              <a:rPr lang="en-US" sz="4000" b="1" dirty="0">
                <a:solidFill>
                  <a:schemeClr val="bg1"/>
                </a:solidFill>
              </a:rPr>
              <a:t>BeautyPrice Intelligence</a:t>
            </a:r>
            <a:endParaRPr lang="en-US" sz="4000" dirty="0"/>
          </a:p>
        </p:txBody>
      </p:sp>
      <p:sp>
        <p:nvSpPr>
          <p:cNvPr id="6" name="Text 4"/>
          <p:cNvSpPr txBox="1"/>
          <p:nvPr/>
        </p:nvSpPr>
        <p:spPr>
          <a:xfrm>
            <a:off x="822960" y="3429000"/>
            <a:ext cx="9326880" cy="548640"/>
          </a:xfrm>
          <a:prstGeom prst="rect">
            <a:avLst/>
          </a:prstGeom>
          <a:noFill/>
          <a:ln/>
        </p:spPr>
        <p:txBody>
          <a:bodyPr wrap="square" lIns="0" tIns="0" rIns="0" bIns="0" rtlCol="0" anchor="ctr"/>
          <a:lstStyle/>
          <a:p>
            <a:pPr indent="0" marL="0">
              <a:buNone/>
            </a:pPr>
            <a:r>
              <a:rPr lang="en-US" sz="1700" dirty="0">
                <a:solidFill>
                  <a:srgbClr val="C9CCE0"/>
                </a:solidFill>
              </a:rPr>
              <a:t>Thu thập, phân tích và dự đoán giá mỹ phẩm từ 5 nhà bán lẻ trực tuyến tại Việt Nam</a:t>
            </a:r>
            <a:endParaRPr lang="en-US" sz="1700" dirty="0"/>
          </a:p>
        </p:txBody>
      </p:sp>
      <p:sp>
        <p:nvSpPr>
          <p:cNvPr id="7" name="Text 5"/>
          <p:cNvSpPr txBox="1"/>
          <p:nvPr/>
        </p:nvSpPr>
        <p:spPr>
          <a:xfrm>
            <a:off x="822960" y="4343400"/>
            <a:ext cx="7315200" cy="1097280"/>
          </a:xfrm>
          <a:prstGeom prst="rect">
            <a:avLst/>
          </a:prstGeom>
          <a:noFill/>
          <a:ln/>
        </p:spPr>
        <p:txBody>
          <a:bodyPr wrap="square" lIns="0" tIns="0" rIns="0" bIns="0" rtlCol="0" anchor="ctr"/>
          <a:lstStyle/>
          <a:p>
            <a:pPr indent="0" marL="0">
              <a:buNone/>
            </a:pPr>
            <a:r>
              <a:rPr lang="en-US" sz="1300" dirty="0">
                <a:solidFill>
                  <a:srgbClr val="A7ACC4"/>
                </a:solidFill>
              </a:rPr>
              <a:t>Nhóm «số nhóm» · 5 thành viên</a:t>
            </a:r>
            <a:endParaRPr lang="en-US" sz="1300" dirty="0"/>
          </a:p>
          <a:p>
            <a:pPr indent="0" marL="0">
              <a:buNone/>
            </a:pPr>
            <a:r>
              <a:rPr lang="en-US" sz="1300" dirty="0">
                <a:solidFill>
                  <a:srgbClr val="A7ACC4"/>
                </a:solidFill>
              </a:rPr>
              <a:t>GVHD: «Điền họ tên giảng viên»</a:t>
            </a:r>
            <a:endParaRPr lang="en-US" sz="1300" dirty="0"/>
          </a:p>
          <a:p>
            <a:pPr indent="0" marL="0">
              <a:buNone/>
            </a:pPr>
            <a:r>
              <a:rPr lang="en-US" sz="1300" dirty="0">
                <a:solidFill>
                  <a:srgbClr val="A7ACC4"/>
                </a:solidFill>
              </a:rPr>
              <a:t>Mã học phần ABDA433708 · Tháng 10/2026</a:t>
            </a:r>
            <a:endParaRPr lang="en-US" sz="1300" dirty="0"/>
          </a:p>
        </p:txBody>
      </p:sp>
      <p:sp>
        <p:nvSpPr>
          <p:cNvPr id="9" name="Text 0"/>
          <p:cNvSpPr/>
          <p:nvPr>
            <p:ph idx="101" type="body" hasCustomPrompt="1"/>
          </p:nvPr>
        </p:nvSpPr>
        <p:spPr>
          <a:xfrm>
            <a:off x="822960" y="3566160"/>
            <a:ext cx="10515600" cy="2011680"/>
          </a:xfrm>
          <a:prstGeom prst="rect">
            <a:avLst/>
          </a:prstGeom>
          <a:noFill/>
          <a:ln/>
        </p:spPr>
        <p:txBody>
          <a:bodyPr wrap="square" rtlCol="0"/>
          <a:lstStyle/>
          <a:p>
            <a:pPr algn="l" indent="0" marL="0">
              <a:buNone/>
            </a:pP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731520"/>
          </a:xfrm>
          <a:prstGeom prst="rect">
            <a:avLst/>
          </a:prstGeom>
          <a:noFill/>
          <a:ln/>
        </p:spPr>
        <p:txBody>
          <a:bodyPr wrap="square" rtlCol="0"/>
          <a:lstStyle/>
          <a:p>
            <a:pPr algn="l" indent="0" marL="0">
              <a:buNone/>
            </a:pPr>
            <a:r>
              <a:rPr lang="en-US" sz="3000" b="1" dirty="0">
                <a:solidFill>
                  <a:schemeClr val="tx2"/>
                </a:solidFill>
              </a:rPr>
              <a:t>Bài toán và mục tiêu</a:t>
            </a:r>
            <a:endParaRPr lang="en-US" sz="3000" dirty="0"/>
          </a:p>
        </p:txBody>
      </p:sp>
      <p:sp>
        <p:nvSpPr>
          <p:cNvPr id="3" name="card-0.65-1.35"/>
          <p:cNvSpPr/>
          <p:nvPr/>
        </p:nvSpPr>
        <p:spPr>
          <a:xfrm>
            <a:off x="594360" y="1234440"/>
            <a:ext cx="5394960" cy="1965960"/>
          </a:xfrm>
          <a:prstGeom prst="roundRect">
            <a:avLst>
              <a:gd name="adj" fmla="val 4651"/>
            </a:avLst>
          </a:prstGeom>
          <a:solidFill>
            <a:srgbClr val="FDF2F4"/>
          </a:solidFill>
          <a:ln w="12700">
            <a:solidFill>
              <a:srgbClr val="F7D4DC"/>
            </a:solidFill>
            <a:prstDash val="solid"/>
          </a:ln>
        </p:spPr>
      </p:sp>
      <p:sp>
        <p:nvSpPr>
          <p:cNvPr id="4" name="Text 2"/>
          <p:cNvSpPr txBox="1"/>
          <p:nvPr/>
        </p:nvSpPr>
        <p:spPr>
          <a:xfrm>
            <a:off x="868680" y="1417320"/>
            <a:ext cx="4846320" cy="292608"/>
          </a:xfrm>
          <a:prstGeom prst="rect">
            <a:avLst/>
          </a:prstGeom>
          <a:noFill/>
          <a:ln/>
        </p:spPr>
        <p:txBody>
          <a:bodyPr wrap="square" lIns="0" tIns="0" rIns="0" bIns="0" rtlCol="0" anchor="ctr"/>
          <a:lstStyle/>
          <a:p>
            <a:pPr indent="0" marL="0">
              <a:buNone/>
            </a:pPr>
            <a:r>
              <a:rPr lang="en-US" sz="1500" b="1" dirty="0">
                <a:solidFill>
                  <a:srgbClr val="B03A5B"/>
                </a:solidFill>
              </a:rPr>
              <a:t>Vấn đề thực tế</a:t>
            </a:r>
            <a:endParaRPr lang="en-US" sz="1500" dirty="0"/>
          </a:p>
        </p:txBody>
      </p:sp>
      <p:sp>
        <p:nvSpPr>
          <p:cNvPr id="5" name="Text 3"/>
          <p:cNvSpPr txBox="1"/>
          <p:nvPr/>
        </p:nvSpPr>
        <p:spPr>
          <a:xfrm>
            <a:off x="868680" y="1737360"/>
            <a:ext cx="4846320" cy="137160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chemeClr val="tx1"/>
                </a:solidFill>
              </a:rPr>
              <a:t>Cùng một sản phẩm, giá chênh lệch nhiều giữa các website</a:t>
            </a:r>
            <a:endParaRPr lang="en-US" sz="1450" dirty="0"/>
          </a:p>
          <a:p>
            <a:pPr marL="342900" indent="-342900">
              <a:spcAft>
                <a:spcPts val="800"/>
              </a:spcAft>
              <a:buSzPct val="100000"/>
              <a:buChar char="•"/>
            </a:pPr>
            <a:r>
              <a:rPr lang="en-US" sz="1450" dirty="0">
                <a:solidFill>
                  <a:schemeClr val="tx1"/>
                </a:solidFill>
              </a:rPr>
              <a:t>Khuyến mãi thay đổi liên tục, khó theo dõi thủ công</a:t>
            </a:r>
            <a:endParaRPr lang="en-US" sz="1450" dirty="0"/>
          </a:p>
          <a:p>
            <a:pPr marL="342900" indent="-342900">
              <a:spcAft>
                <a:spcPts val="800"/>
              </a:spcAft>
              <a:buSzPct val="100000"/>
              <a:buChar char="•"/>
            </a:pPr>
            <a:r>
              <a:rPr lang="en-US" sz="1450" dirty="0">
                <a:solidFill>
                  <a:schemeClr val="tx1"/>
                </a:solidFill>
              </a:rPr>
              <a:t>Thiếu bức tranh tổng hợp để định giá và theo dõi đối thủ</a:t>
            </a:r>
            <a:endParaRPr lang="en-US" sz="1450" dirty="0"/>
          </a:p>
        </p:txBody>
      </p:sp>
      <p:sp>
        <p:nvSpPr>
          <p:cNvPr id="6" name="card-6.75-1.35"/>
          <p:cNvSpPr/>
          <p:nvPr/>
        </p:nvSpPr>
        <p:spPr>
          <a:xfrm>
            <a:off x="6172200" y="1234440"/>
            <a:ext cx="5394960" cy="1965960"/>
          </a:xfrm>
          <a:prstGeom prst="roundRect">
            <a:avLst>
              <a:gd name="adj" fmla="val 4651"/>
            </a:avLst>
          </a:prstGeom>
          <a:solidFill>
            <a:srgbClr val="EEF0FF"/>
          </a:solidFill>
          <a:ln w="12700">
            <a:solidFill>
              <a:srgbClr val="D5D8FA"/>
            </a:solidFill>
            <a:prstDash val="solid"/>
          </a:ln>
        </p:spPr>
      </p:sp>
      <p:sp>
        <p:nvSpPr>
          <p:cNvPr id="7" name="Text 5"/>
          <p:cNvSpPr txBox="1"/>
          <p:nvPr/>
        </p:nvSpPr>
        <p:spPr>
          <a:xfrm>
            <a:off x="6446520" y="1417320"/>
            <a:ext cx="4846320" cy="292608"/>
          </a:xfrm>
          <a:prstGeom prst="rect">
            <a:avLst/>
          </a:prstGeom>
          <a:noFill/>
          <a:ln/>
        </p:spPr>
        <p:txBody>
          <a:bodyPr wrap="square" lIns="0" tIns="0" rIns="0" bIns="0" rtlCol="0" anchor="ctr"/>
          <a:lstStyle/>
          <a:p>
            <a:pPr indent="0" marL="0">
              <a:buNone/>
            </a:pPr>
            <a:r>
              <a:rPr lang="en-US" sz="1500" b="1" dirty="0">
                <a:solidFill>
                  <a:srgbClr val="4F46E5"/>
                </a:solidFill>
              </a:rPr>
              <a:t>Mục tiêu của nhóm</a:t>
            </a:r>
            <a:endParaRPr lang="en-US" sz="1500" dirty="0"/>
          </a:p>
        </p:txBody>
      </p:sp>
      <p:sp>
        <p:nvSpPr>
          <p:cNvPr id="8" name="Text 6"/>
          <p:cNvSpPr txBox="1"/>
          <p:nvPr/>
        </p:nvSpPr>
        <p:spPr>
          <a:xfrm>
            <a:off x="6446520" y="1737360"/>
            <a:ext cx="4846320" cy="137160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chemeClr val="tx1"/>
                </a:solidFill>
              </a:rPr>
              <a:t>Tổng hợp dữ liệu 5 nhà bán lẻ vào một CSDL thống nhất</a:t>
            </a:r>
            <a:endParaRPr lang="en-US" sz="1450" dirty="0"/>
          </a:p>
          <a:p>
            <a:pPr marL="342900" indent="-342900">
              <a:spcAft>
                <a:spcPts val="800"/>
              </a:spcAft>
              <a:buSzPct val="100000"/>
              <a:buChar char="•"/>
            </a:pPr>
            <a:r>
              <a:rPr lang="en-US" sz="1450" dirty="0">
                <a:solidFill>
                  <a:schemeClr val="tx1"/>
                </a:solidFill>
              </a:rPr>
              <a:t>Làm sạch, chuẩn hóa và kiểm chứng được dữ liệu</a:t>
            </a:r>
            <a:endParaRPr lang="en-US" sz="1450" dirty="0"/>
          </a:p>
          <a:p>
            <a:pPr marL="342900" indent="-342900">
              <a:spcAft>
                <a:spcPts val="800"/>
              </a:spcAft>
              <a:buSzPct val="100000"/>
              <a:buChar char="•"/>
            </a:pPr>
            <a:r>
              <a:rPr lang="en-US" sz="1450" dirty="0">
                <a:solidFill>
                  <a:schemeClr val="tx1"/>
                </a:solidFill>
              </a:rPr>
              <a:t>Dự đoán giá, phân khúc và phát hiện giá bất thường</a:t>
            </a:r>
            <a:endParaRPr lang="en-US" sz="1450" dirty="0"/>
          </a:p>
          <a:p>
            <a:pPr marL="342900" indent="-342900">
              <a:spcAft>
                <a:spcPts val="800"/>
              </a:spcAft>
              <a:buSzPct val="100000"/>
              <a:buChar char="•"/>
            </a:pPr>
            <a:r>
              <a:rPr lang="en-US" sz="1450" dirty="0">
                <a:solidFill>
                  <a:schemeClr val="tx1"/>
                </a:solidFill>
              </a:rPr>
              <a:t>Đưa toàn bộ lên website có phân quyền</a:t>
            </a:r>
            <a:endParaRPr lang="en-US" sz="1450" dirty="0"/>
          </a:p>
        </p:txBody>
      </p:sp>
      <p:sp>
        <p:nvSpPr>
          <p:cNvPr id="9" name="card-0.65-3.75"/>
          <p:cNvSpPr/>
          <p:nvPr/>
        </p:nvSpPr>
        <p:spPr>
          <a:xfrm>
            <a:off x="594360" y="3429000"/>
            <a:ext cx="2606040" cy="1417320"/>
          </a:xfrm>
          <a:prstGeom prst="roundRect">
            <a:avLst>
              <a:gd name="adj" fmla="val 6452"/>
            </a:avLst>
          </a:prstGeom>
          <a:solidFill>
            <a:schemeClr val="bg2"/>
          </a:solidFill>
          <a:ln w="12700">
            <a:solidFill>
              <a:srgbClr val="E3E6F0"/>
            </a:solidFill>
            <a:prstDash val="solid"/>
          </a:ln>
        </p:spPr>
      </p:sp>
      <p:sp>
        <p:nvSpPr>
          <p:cNvPr id="10" name="tint-0.65"/>
          <p:cNvSpPr/>
          <p:nvPr/>
        </p:nvSpPr>
        <p:spPr>
          <a:xfrm>
            <a:off x="594360" y="3429000"/>
            <a:ext cx="54864" cy="1417320"/>
          </a:xfrm>
          <a:prstGeom prst="roundRect">
            <a:avLst>
              <a:gd name="adj" fmla="val 50000"/>
            </a:avLst>
          </a:prstGeom>
          <a:solidFill>
            <a:srgbClr val="4F46E5"/>
          </a:solidFill>
          <a:ln w="12700">
            <a:solidFill>
              <a:srgbClr val="4F46E5"/>
            </a:solidFill>
            <a:prstDash val="solid"/>
          </a:ln>
        </p:spPr>
      </p:sp>
      <p:sp>
        <p:nvSpPr>
          <p:cNvPr id="11" name="Text 9"/>
          <p:cNvSpPr txBox="1"/>
          <p:nvPr/>
        </p:nvSpPr>
        <p:spPr>
          <a:xfrm>
            <a:off x="822960" y="3593592"/>
            <a:ext cx="2240280" cy="640080"/>
          </a:xfrm>
          <a:prstGeom prst="rect">
            <a:avLst/>
          </a:prstGeom>
          <a:noFill/>
          <a:ln/>
        </p:spPr>
        <p:txBody>
          <a:bodyPr wrap="square" lIns="0" tIns="0" rIns="0" bIns="0" rtlCol="0" anchor="ctr"/>
          <a:lstStyle/>
          <a:p>
            <a:pPr indent="0" marL="0">
              <a:buNone/>
            </a:pPr>
            <a:r>
              <a:rPr lang="en-US" sz="3200" b="1" dirty="0">
                <a:solidFill>
                  <a:srgbClr val="4F46E5"/>
                </a:solidFill>
              </a:rPr>
              <a:t>5.657</a:t>
            </a:r>
            <a:endParaRPr lang="en-US" sz="3200" dirty="0"/>
          </a:p>
        </p:txBody>
      </p:sp>
      <p:sp>
        <p:nvSpPr>
          <p:cNvPr id="12" name="Text 10"/>
          <p:cNvSpPr txBox="1"/>
          <p:nvPr/>
        </p:nvSpPr>
        <p:spPr>
          <a:xfrm>
            <a:off x="822960" y="4215384"/>
            <a:ext cx="2240280" cy="274320"/>
          </a:xfrm>
          <a:prstGeom prst="rect">
            <a:avLst/>
          </a:prstGeom>
          <a:noFill/>
          <a:ln/>
        </p:spPr>
        <p:txBody>
          <a:bodyPr wrap="square" lIns="0" tIns="0" rIns="0" bIns="0" rtlCol="0" anchor="ctr"/>
          <a:lstStyle/>
          <a:p>
            <a:pPr indent="0" marL="0">
              <a:buNone/>
            </a:pPr>
            <a:r>
              <a:rPr lang="en-US" sz="1300" b="1" dirty="0">
                <a:solidFill>
                  <a:schemeClr val="tx2"/>
                </a:solidFill>
              </a:rPr>
              <a:t>Sản phẩm</a:t>
            </a:r>
            <a:endParaRPr lang="en-US" sz="1300" dirty="0"/>
          </a:p>
        </p:txBody>
      </p:sp>
      <p:sp>
        <p:nvSpPr>
          <p:cNvPr id="13" name="Text 11"/>
          <p:cNvSpPr txBox="1"/>
          <p:nvPr/>
        </p:nvSpPr>
        <p:spPr>
          <a:xfrm>
            <a:off x="822960" y="4462272"/>
            <a:ext cx="2240280" cy="292608"/>
          </a:xfrm>
          <a:prstGeom prst="rect">
            <a:avLst/>
          </a:prstGeom>
          <a:noFill/>
          <a:ln/>
        </p:spPr>
        <p:txBody>
          <a:bodyPr wrap="square" lIns="0" tIns="0" rIns="0" bIns="0" rtlCol="0" anchor="ctr"/>
          <a:lstStyle/>
          <a:p>
            <a:pPr indent="0" marL="0">
              <a:buNone/>
            </a:pPr>
            <a:r>
              <a:rPr lang="en-US" sz="1050" dirty="0">
                <a:solidFill>
                  <a:srgbClr val="6B7280"/>
                </a:solidFill>
              </a:rPr>
              <a:t>từ 5 nhà bán lẻ</a:t>
            </a:r>
            <a:endParaRPr lang="en-US" sz="1050" dirty="0"/>
          </a:p>
        </p:txBody>
      </p:sp>
      <p:sp>
        <p:nvSpPr>
          <p:cNvPr id="14" name="card-3.68-3.75"/>
          <p:cNvSpPr/>
          <p:nvPr/>
        </p:nvSpPr>
        <p:spPr>
          <a:xfrm>
            <a:off x="3364992" y="3429000"/>
            <a:ext cx="2606040" cy="1417320"/>
          </a:xfrm>
          <a:prstGeom prst="roundRect">
            <a:avLst>
              <a:gd name="adj" fmla="val 6452"/>
            </a:avLst>
          </a:prstGeom>
          <a:solidFill>
            <a:schemeClr val="bg2"/>
          </a:solidFill>
          <a:ln w="12700">
            <a:solidFill>
              <a:srgbClr val="E3E6F0"/>
            </a:solidFill>
            <a:prstDash val="solid"/>
          </a:ln>
        </p:spPr>
      </p:sp>
      <p:sp>
        <p:nvSpPr>
          <p:cNvPr id="15" name="tint-3.68"/>
          <p:cNvSpPr/>
          <p:nvPr/>
        </p:nvSpPr>
        <p:spPr>
          <a:xfrm>
            <a:off x="3364992" y="3429000"/>
            <a:ext cx="54864" cy="1417320"/>
          </a:xfrm>
          <a:prstGeom prst="roundRect">
            <a:avLst>
              <a:gd name="adj" fmla="val 50000"/>
            </a:avLst>
          </a:prstGeom>
          <a:solidFill>
            <a:srgbClr val="2A78D6"/>
          </a:solidFill>
          <a:ln w="12700">
            <a:solidFill>
              <a:srgbClr val="2A78D6"/>
            </a:solidFill>
            <a:prstDash val="solid"/>
          </a:ln>
        </p:spPr>
      </p:sp>
      <p:sp>
        <p:nvSpPr>
          <p:cNvPr id="16" name="Text 14"/>
          <p:cNvSpPr txBox="1"/>
          <p:nvPr/>
        </p:nvSpPr>
        <p:spPr>
          <a:xfrm>
            <a:off x="3593592" y="3593592"/>
            <a:ext cx="2240280" cy="640080"/>
          </a:xfrm>
          <a:prstGeom prst="rect">
            <a:avLst/>
          </a:prstGeom>
          <a:noFill/>
          <a:ln/>
        </p:spPr>
        <p:txBody>
          <a:bodyPr wrap="square" lIns="0" tIns="0" rIns="0" bIns="0" rtlCol="0" anchor="ctr"/>
          <a:lstStyle/>
          <a:p>
            <a:pPr indent="0" marL="0">
              <a:buNone/>
            </a:pPr>
            <a:r>
              <a:rPr lang="en-US" sz="3200" b="1" dirty="0">
                <a:solidFill>
                  <a:srgbClr val="2A78D6"/>
                </a:solidFill>
              </a:rPr>
              <a:t>6.350</a:t>
            </a:r>
            <a:endParaRPr lang="en-US" sz="3200" dirty="0"/>
          </a:p>
        </p:txBody>
      </p:sp>
      <p:sp>
        <p:nvSpPr>
          <p:cNvPr id="17" name="Text 15"/>
          <p:cNvSpPr txBox="1"/>
          <p:nvPr/>
        </p:nvSpPr>
        <p:spPr>
          <a:xfrm>
            <a:off x="3593592" y="4215384"/>
            <a:ext cx="2240280" cy="274320"/>
          </a:xfrm>
          <a:prstGeom prst="rect">
            <a:avLst/>
          </a:prstGeom>
          <a:noFill/>
          <a:ln/>
        </p:spPr>
        <p:txBody>
          <a:bodyPr wrap="square" lIns="0" tIns="0" rIns="0" bIns="0" rtlCol="0" anchor="ctr"/>
          <a:lstStyle/>
          <a:p>
            <a:pPr indent="0" marL="0">
              <a:buNone/>
            </a:pPr>
            <a:r>
              <a:rPr lang="en-US" sz="1300" b="1" dirty="0">
                <a:solidFill>
                  <a:schemeClr val="tx2"/>
                </a:solidFill>
              </a:rPr>
              <a:t>Bản ghi giá</a:t>
            </a:r>
            <a:endParaRPr lang="en-US" sz="1300" dirty="0"/>
          </a:p>
        </p:txBody>
      </p:sp>
      <p:sp>
        <p:nvSpPr>
          <p:cNvPr id="18" name="Text 16"/>
          <p:cNvSpPr txBox="1"/>
          <p:nvPr/>
        </p:nvSpPr>
        <p:spPr>
          <a:xfrm>
            <a:off x="3593592" y="4462272"/>
            <a:ext cx="2240280" cy="292608"/>
          </a:xfrm>
          <a:prstGeom prst="rect">
            <a:avLst/>
          </a:prstGeom>
          <a:noFill/>
          <a:ln/>
        </p:spPr>
        <p:txBody>
          <a:bodyPr wrap="square" lIns="0" tIns="0" rIns="0" bIns="0" rtlCol="0" anchor="ctr"/>
          <a:lstStyle/>
          <a:p>
            <a:pPr indent="0" marL="0">
              <a:buNone/>
            </a:pPr>
            <a:r>
              <a:rPr lang="en-US" sz="1050" dirty="0">
                <a:solidFill>
                  <a:srgbClr val="6B7280"/>
                </a:solidFill>
              </a:rPr>
              <a:t>có lịch sử theo thời gian</a:t>
            </a:r>
            <a:endParaRPr lang="en-US" sz="1050" dirty="0"/>
          </a:p>
        </p:txBody>
      </p:sp>
      <p:sp>
        <p:nvSpPr>
          <p:cNvPr id="19" name="card-6.72-3.75"/>
          <p:cNvSpPr/>
          <p:nvPr/>
        </p:nvSpPr>
        <p:spPr>
          <a:xfrm>
            <a:off x="6144768" y="3429000"/>
            <a:ext cx="2606040" cy="1417320"/>
          </a:xfrm>
          <a:prstGeom prst="roundRect">
            <a:avLst>
              <a:gd name="adj" fmla="val 6452"/>
            </a:avLst>
          </a:prstGeom>
          <a:solidFill>
            <a:schemeClr val="bg2"/>
          </a:solidFill>
          <a:ln w="12700">
            <a:solidFill>
              <a:srgbClr val="E3E6F0"/>
            </a:solidFill>
            <a:prstDash val="solid"/>
          </a:ln>
        </p:spPr>
      </p:sp>
      <p:sp>
        <p:nvSpPr>
          <p:cNvPr id="20" name="tint-6.72"/>
          <p:cNvSpPr/>
          <p:nvPr/>
        </p:nvSpPr>
        <p:spPr>
          <a:xfrm>
            <a:off x="6144768" y="3429000"/>
            <a:ext cx="54864" cy="1417320"/>
          </a:xfrm>
          <a:prstGeom prst="roundRect">
            <a:avLst>
              <a:gd name="adj" fmla="val 50000"/>
            </a:avLst>
          </a:prstGeom>
          <a:solidFill>
            <a:srgbClr val="1BAF7A"/>
          </a:solidFill>
          <a:ln w="12700">
            <a:solidFill>
              <a:srgbClr val="1BAF7A"/>
            </a:solidFill>
            <a:prstDash val="solid"/>
          </a:ln>
        </p:spPr>
      </p:sp>
      <p:sp>
        <p:nvSpPr>
          <p:cNvPr id="21" name="Text 19"/>
          <p:cNvSpPr txBox="1"/>
          <p:nvPr/>
        </p:nvSpPr>
        <p:spPr>
          <a:xfrm>
            <a:off x="6373368" y="3593592"/>
            <a:ext cx="2240280" cy="640080"/>
          </a:xfrm>
          <a:prstGeom prst="rect">
            <a:avLst/>
          </a:prstGeom>
          <a:noFill/>
          <a:ln/>
        </p:spPr>
        <p:txBody>
          <a:bodyPr wrap="square" lIns="0" tIns="0" rIns="0" bIns="0" rtlCol="0" anchor="ctr"/>
          <a:lstStyle/>
          <a:p>
            <a:pPr indent="0" marL="0">
              <a:buNone/>
            </a:pPr>
            <a:r>
              <a:rPr lang="en-US" sz="3200" b="1" dirty="0">
                <a:solidFill>
                  <a:srgbClr val="1BAF7A"/>
                </a:solidFill>
              </a:rPr>
              <a:t>6.673</a:t>
            </a:r>
            <a:endParaRPr lang="en-US" sz="3200" dirty="0"/>
          </a:p>
        </p:txBody>
      </p:sp>
      <p:sp>
        <p:nvSpPr>
          <p:cNvPr id="22" name="Text 20"/>
          <p:cNvSpPr txBox="1"/>
          <p:nvPr/>
        </p:nvSpPr>
        <p:spPr>
          <a:xfrm>
            <a:off x="6373368" y="4215384"/>
            <a:ext cx="2240280" cy="274320"/>
          </a:xfrm>
          <a:prstGeom prst="rect">
            <a:avLst/>
          </a:prstGeom>
          <a:noFill/>
          <a:ln/>
        </p:spPr>
        <p:txBody>
          <a:bodyPr wrap="square" lIns="0" tIns="0" rIns="0" bIns="0" rtlCol="0" anchor="ctr"/>
          <a:lstStyle/>
          <a:p>
            <a:pPr indent="0" marL="0">
              <a:buNone/>
            </a:pPr>
            <a:r>
              <a:rPr lang="en-US" sz="1300" b="1" dirty="0">
                <a:solidFill>
                  <a:schemeClr val="tx2"/>
                </a:solidFill>
              </a:rPr>
              <a:t>Đánh giá</a:t>
            </a:r>
            <a:endParaRPr lang="en-US" sz="1300" dirty="0"/>
          </a:p>
        </p:txBody>
      </p:sp>
      <p:sp>
        <p:nvSpPr>
          <p:cNvPr id="23" name="Text 21"/>
          <p:cNvSpPr txBox="1"/>
          <p:nvPr/>
        </p:nvSpPr>
        <p:spPr>
          <a:xfrm>
            <a:off x="6373368" y="4462272"/>
            <a:ext cx="2240280" cy="292608"/>
          </a:xfrm>
          <a:prstGeom prst="rect">
            <a:avLst/>
          </a:prstGeom>
          <a:noFill/>
          <a:ln/>
        </p:spPr>
        <p:txBody>
          <a:bodyPr wrap="square" lIns="0" tIns="0" rIns="0" bIns="0" rtlCol="0" anchor="ctr"/>
          <a:lstStyle/>
          <a:p>
            <a:pPr indent="0" marL="0">
              <a:buNone/>
            </a:pPr>
            <a:r>
              <a:rPr lang="en-US" sz="1050" dirty="0">
                <a:solidFill>
                  <a:srgbClr val="6B7280"/>
                </a:solidFill>
              </a:rPr>
              <a:t>của khách hàng</a:t>
            </a:r>
            <a:endParaRPr lang="en-US" sz="1050" dirty="0"/>
          </a:p>
        </p:txBody>
      </p:sp>
      <p:sp>
        <p:nvSpPr>
          <p:cNvPr id="24" name="card-9.75-3.75"/>
          <p:cNvSpPr/>
          <p:nvPr/>
        </p:nvSpPr>
        <p:spPr>
          <a:xfrm>
            <a:off x="8915400" y="3429000"/>
            <a:ext cx="2651760" cy="1417320"/>
          </a:xfrm>
          <a:prstGeom prst="roundRect">
            <a:avLst>
              <a:gd name="adj" fmla="val 6452"/>
            </a:avLst>
          </a:prstGeom>
          <a:solidFill>
            <a:schemeClr val="bg2"/>
          </a:solidFill>
          <a:ln w="12700">
            <a:solidFill>
              <a:srgbClr val="E3E6F0"/>
            </a:solidFill>
            <a:prstDash val="solid"/>
          </a:ln>
        </p:spPr>
      </p:sp>
      <p:sp>
        <p:nvSpPr>
          <p:cNvPr id="25" name="tint-9.75"/>
          <p:cNvSpPr/>
          <p:nvPr/>
        </p:nvSpPr>
        <p:spPr>
          <a:xfrm>
            <a:off x="8915400" y="3429000"/>
            <a:ext cx="54864" cy="1417320"/>
          </a:xfrm>
          <a:prstGeom prst="roundRect">
            <a:avLst>
              <a:gd name="adj" fmla="val 50000"/>
            </a:avLst>
          </a:prstGeom>
          <a:solidFill>
            <a:srgbClr val="EB6834"/>
          </a:solidFill>
          <a:ln w="12700">
            <a:solidFill>
              <a:srgbClr val="EB6834"/>
            </a:solidFill>
            <a:prstDash val="solid"/>
          </a:ln>
        </p:spPr>
      </p:sp>
      <p:sp>
        <p:nvSpPr>
          <p:cNvPr id="26" name="Text 24"/>
          <p:cNvSpPr txBox="1"/>
          <p:nvPr/>
        </p:nvSpPr>
        <p:spPr>
          <a:xfrm>
            <a:off x="9144000" y="3593592"/>
            <a:ext cx="2286000" cy="640080"/>
          </a:xfrm>
          <a:prstGeom prst="rect">
            <a:avLst/>
          </a:prstGeom>
          <a:noFill/>
          <a:ln/>
        </p:spPr>
        <p:txBody>
          <a:bodyPr wrap="square" lIns="0" tIns="0" rIns="0" bIns="0" rtlCol="0" anchor="ctr"/>
          <a:lstStyle/>
          <a:p>
            <a:pPr indent="0" marL="0">
              <a:buNone/>
            </a:pPr>
            <a:r>
              <a:rPr lang="en-US" sz="3200" b="1" dirty="0">
                <a:solidFill>
                  <a:srgbClr val="EB6834"/>
                </a:solidFill>
              </a:rPr>
              <a:t>418</a:t>
            </a:r>
            <a:endParaRPr lang="en-US" sz="3200" dirty="0"/>
          </a:p>
        </p:txBody>
      </p:sp>
      <p:sp>
        <p:nvSpPr>
          <p:cNvPr id="27" name="Text 25"/>
          <p:cNvSpPr txBox="1"/>
          <p:nvPr/>
        </p:nvSpPr>
        <p:spPr>
          <a:xfrm>
            <a:off x="9144000" y="4215384"/>
            <a:ext cx="2286000" cy="274320"/>
          </a:xfrm>
          <a:prstGeom prst="rect">
            <a:avLst/>
          </a:prstGeom>
          <a:noFill/>
          <a:ln/>
        </p:spPr>
        <p:txBody>
          <a:bodyPr wrap="square" lIns="0" tIns="0" rIns="0" bIns="0" rtlCol="0" anchor="ctr"/>
          <a:lstStyle/>
          <a:p>
            <a:pPr indent="0" marL="0">
              <a:buNone/>
            </a:pPr>
            <a:r>
              <a:rPr lang="en-US" sz="1300" b="1" dirty="0">
                <a:solidFill>
                  <a:schemeClr val="tx2"/>
                </a:solidFill>
              </a:rPr>
              <a:t>Thương hiệu</a:t>
            </a:r>
            <a:endParaRPr lang="en-US" sz="1300" dirty="0"/>
          </a:p>
        </p:txBody>
      </p:sp>
      <p:sp>
        <p:nvSpPr>
          <p:cNvPr id="28" name="Text 26"/>
          <p:cNvSpPr txBox="1"/>
          <p:nvPr/>
        </p:nvSpPr>
        <p:spPr>
          <a:xfrm>
            <a:off x="9144000" y="4462272"/>
            <a:ext cx="2286000" cy="292608"/>
          </a:xfrm>
          <a:prstGeom prst="rect">
            <a:avLst/>
          </a:prstGeom>
          <a:noFill/>
          <a:ln/>
        </p:spPr>
        <p:txBody>
          <a:bodyPr wrap="square" lIns="0" tIns="0" rIns="0" bIns="0" rtlCol="0" anchor="ctr"/>
          <a:lstStyle/>
          <a:p>
            <a:pPr indent="0" marL="0">
              <a:buNone/>
            </a:pPr>
            <a:r>
              <a:rPr lang="en-US" sz="1050" dirty="0">
                <a:solidFill>
                  <a:srgbClr val="6B7280"/>
                </a:solidFill>
              </a:rPr>
              <a:t>sau khi gộp cách viết</a:t>
            </a:r>
            <a:endParaRPr lang="en-US" sz="1050" dirty="0"/>
          </a:p>
        </p:txBody>
      </p:sp>
      <p:sp>
        <p:nvSpPr>
          <p:cNvPr id="29" name="Text 27"/>
          <p:cNvSpPr txBox="1"/>
          <p:nvPr/>
        </p:nvSpPr>
        <p:spPr>
          <a:xfrm>
            <a:off x="594360" y="5074920"/>
            <a:ext cx="10972800" cy="320040"/>
          </a:xfrm>
          <a:prstGeom prst="rect">
            <a:avLst/>
          </a:prstGeom>
          <a:noFill/>
          <a:ln/>
        </p:spPr>
        <p:txBody>
          <a:bodyPr wrap="square" lIns="0" tIns="0" rIns="0" bIns="0" rtlCol="0" anchor="ctr"/>
          <a:lstStyle/>
          <a:p>
            <a:pPr indent="0" marL="0">
              <a:buNone/>
            </a:pPr>
            <a:r>
              <a:rPr lang="en-US" sz="1250" i="1" dirty="0">
                <a:solidFill>
                  <a:srgbClr val="6B7280"/>
                </a:solidFill>
              </a:rPr>
              <a:t>Phạm vi: 6 danh mục chăm sóc da và cơ thể · dữ liệu thu thập 18–21/10/2026</a:t>
            </a:r>
            <a:endParaRPr lang="en-US" sz="1250" dirty="0"/>
          </a:p>
        </p:txBody>
      </p:sp>
      <p:sp>
        <p:nvSpPr>
          <p:cNvPr id="31" name="Text 0"/>
          <p:cNvSpPr/>
          <p:nvPr>
            <p:ph idx="101" type="body" hasCustomPrompt="1"/>
          </p:nvPr>
        </p:nvSpPr>
        <p:spPr>
          <a:xfrm>
            <a:off x="594360" y="1234440"/>
            <a:ext cx="10972800" cy="4937760"/>
          </a:xfrm>
          <a:prstGeom prst="rect">
            <a:avLst/>
          </a:prstGeom>
          <a:noFill/>
          <a:ln/>
        </p:spPr>
        <p:txBody>
          <a:bodyPr wrap="square" rtlCol="0"/>
          <a:lstStyle/>
          <a:p>
            <a:pPr algn="l" indent="0" marL="0">
              <a:buNone/>
            </a:pPr>
            <a:endParaRPr lang="en-US" sz="1500" dirty="0"/>
          </a:p>
        </p:txBody>
      </p:sp>
      <p:sp>
        <p:nvSpPr>
          <p:cNvPr id="32" name="Text 1"/>
          <p:cNvSpPr/>
          <p:nvPr>
            <p:ph idx="103" hasCustomPrompt="1"/>
          </p:nvPr>
        </p:nvSpPr>
        <p:spPr>
          <a:xfrm>
            <a:off x="11247120" y="6355080"/>
            <a:ext cx="45720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731520"/>
          </a:xfrm>
          <a:prstGeom prst="rect">
            <a:avLst/>
          </a:prstGeom>
          <a:noFill/>
          <a:ln/>
        </p:spPr>
        <p:txBody>
          <a:bodyPr wrap="square" rtlCol="0"/>
          <a:lstStyle/>
          <a:p>
            <a:pPr algn="l" indent="0" marL="0">
              <a:buNone/>
            </a:pPr>
            <a:r>
              <a:rPr lang="en-US" sz="3000" b="1" dirty="0">
                <a:solidFill>
                  <a:schemeClr val="tx2"/>
                </a:solidFill>
              </a:rPr>
              <a:t>Kiến trúc hệ thống bốn tầng</a:t>
            </a:r>
            <a:endParaRPr lang="en-US" sz="3000" dirty="0"/>
          </a:p>
        </p:txBody>
      </p:sp>
      <p:sp>
        <p:nvSpPr>
          <p:cNvPr id="3" name="card-0.65-1.5"/>
          <p:cNvSpPr/>
          <p:nvPr/>
        </p:nvSpPr>
        <p:spPr>
          <a:xfrm>
            <a:off x="594360" y="1371600"/>
            <a:ext cx="2606040" cy="2286000"/>
          </a:xfrm>
          <a:prstGeom prst="roundRect">
            <a:avLst>
              <a:gd name="adj" fmla="val 4000"/>
            </a:avLst>
          </a:prstGeom>
          <a:solidFill>
            <a:schemeClr val="bg2"/>
          </a:solidFill>
          <a:ln w="12700">
            <a:solidFill>
              <a:srgbClr val="E3E6F0"/>
            </a:solidFill>
            <a:prstDash val="solid"/>
          </a:ln>
        </p:spPr>
      </p:sp>
      <p:sp>
        <p:nvSpPr>
          <p:cNvPr id="4" name="st0"/>
          <p:cNvSpPr/>
          <p:nvPr/>
        </p:nvSpPr>
        <p:spPr>
          <a:xfrm>
            <a:off x="822960" y="1600200"/>
            <a:ext cx="475488" cy="475488"/>
          </a:xfrm>
          <a:prstGeom prst="ellipse">
            <a:avLst/>
          </a:prstGeom>
          <a:solidFill>
            <a:srgbClr val="2A78D6"/>
          </a:solidFill>
          <a:ln w="12700">
            <a:solidFill>
              <a:srgbClr val="2A78D6"/>
            </a:solidFill>
            <a:prstDash val="solid"/>
          </a:ln>
        </p:spPr>
      </p:sp>
      <p:sp>
        <p:nvSpPr>
          <p:cNvPr id="5" name="Text 3"/>
          <p:cNvSpPr txBox="1"/>
          <p:nvPr/>
        </p:nvSpPr>
        <p:spPr>
          <a:xfrm>
            <a:off x="822960" y="1636776"/>
            <a:ext cx="475488" cy="402336"/>
          </a:xfrm>
          <a:prstGeom prst="rect">
            <a:avLst/>
          </a:prstGeom>
          <a:noFill/>
          <a:ln/>
        </p:spPr>
        <p:txBody>
          <a:bodyPr wrap="square" lIns="0" tIns="0" rIns="0" bIns="0" rtlCol="0" anchor="ctr"/>
          <a:lstStyle/>
          <a:p>
            <a:pPr algn="ctr" indent="0" marL="0">
              <a:buNone/>
            </a:pPr>
            <a:r>
              <a:rPr lang="en-US" sz="1700" b="1" dirty="0">
                <a:solidFill>
                  <a:srgbClr val="FFFFFF"/>
                </a:solidFill>
              </a:rPr>
              <a:t>1</a:t>
            </a:r>
            <a:endParaRPr lang="en-US" sz="1700" dirty="0"/>
          </a:p>
        </p:txBody>
      </p:sp>
      <p:sp>
        <p:nvSpPr>
          <p:cNvPr id="6" name="Text 4"/>
          <p:cNvSpPr txBox="1"/>
          <p:nvPr/>
        </p:nvSpPr>
        <p:spPr>
          <a:xfrm>
            <a:off x="822960" y="2212848"/>
            <a:ext cx="2194560" cy="365760"/>
          </a:xfrm>
          <a:prstGeom prst="rect">
            <a:avLst/>
          </a:prstGeom>
          <a:noFill/>
          <a:ln/>
        </p:spPr>
        <p:txBody>
          <a:bodyPr wrap="square" lIns="0" tIns="0" rIns="0" bIns="0" rtlCol="0" anchor="ctr"/>
          <a:lstStyle/>
          <a:p>
            <a:pPr indent="0" marL="0">
              <a:buNone/>
            </a:pPr>
            <a:r>
              <a:rPr lang="en-US" sz="1500" b="1" dirty="0">
                <a:solidFill>
                  <a:schemeClr val="tx2"/>
                </a:solidFill>
              </a:rPr>
              <a:t>Thu thập</a:t>
            </a:r>
            <a:endParaRPr lang="en-US" sz="1500" dirty="0"/>
          </a:p>
        </p:txBody>
      </p:sp>
      <p:sp>
        <p:nvSpPr>
          <p:cNvPr id="7" name="Text 5"/>
          <p:cNvSpPr txBox="1"/>
          <p:nvPr/>
        </p:nvSpPr>
        <p:spPr>
          <a:xfrm>
            <a:off x="822960" y="2606040"/>
            <a:ext cx="2194560" cy="914400"/>
          </a:xfrm>
          <a:prstGeom prst="rect">
            <a:avLst/>
          </a:prstGeom>
          <a:noFill/>
          <a:ln/>
        </p:spPr>
        <p:txBody>
          <a:bodyPr wrap="square" lIns="0" tIns="0" rIns="0" bIns="0" rtlCol="0" anchor="ctr"/>
          <a:lstStyle/>
          <a:p>
            <a:pPr indent="0" marL="0">
              <a:buNone/>
            </a:pPr>
            <a:r>
              <a:rPr lang="en-US" sz="1150" dirty="0">
                <a:solidFill>
                  <a:srgbClr val="4B5163"/>
                </a:solidFill>
              </a:rPr>
              <a:t>crawl.py lấy dữ liệu từ API và HTML công khai, lưu dữ liệu thô để truy vết</a:t>
            </a:r>
            <a:endParaRPr lang="en-US" sz="1150" dirty="0"/>
          </a:p>
        </p:txBody>
      </p:sp>
      <p:sp>
        <p:nvSpPr>
          <p:cNvPr id="8" name="Text 6"/>
          <p:cNvSpPr txBox="1"/>
          <p:nvPr/>
        </p:nvSpPr>
        <p:spPr>
          <a:xfrm>
            <a:off x="3172968" y="2148840"/>
            <a:ext cx="274320" cy="365760"/>
          </a:xfrm>
          <a:prstGeom prst="rect">
            <a:avLst/>
          </a:prstGeom>
          <a:noFill/>
          <a:ln/>
        </p:spPr>
        <p:txBody>
          <a:bodyPr wrap="square" lIns="0" tIns="0" rIns="0" bIns="0" rtlCol="0" anchor="ctr"/>
          <a:lstStyle/>
          <a:p>
            <a:pPr algn="ctr" indent="0" marL="0">
              <a:buNone/>
            </a:pPr>
            <a:r>
              <a:rPr lang="en-US" sz="2400" b="1" dirty="0">
                <a:solidFill>
                  <a:srgbClr val="B6BCD0"/>
                </a:solidFill>
              </a:rPr>
              <a:t>›</a:t>
            </a:r>
            <a:endParaRPr lang="en-US" sz="2400" dirty="0"/>
          </a:p>
        </p:txBody>
      </p:sp>
      <p:sp>
        <p:nvSpPr>
          <p:cNvPr id="9" name="card-3.75-1.5"/>
          <p:cNvSpPr/>
          <p:nvPr/>
        </p:nvSpPr>
        <p:spPr>
          <a:xfrm>
            <a:off x="3429000" y="1371600"/>
            <a:ext cx="2606040" cy="2286000"/>
          </a:xfrm>
          <a:prstGeom prst="roundRect">
            <a:avLst>
              <a:gd name="adj" fmla="val 4000"/>
            </a:avLst>
          </a:prstGeom>
          <a:solidFill>
            <a:schemeClr val="bg2"/>
          </a:solidFill>
          <a:ln w="12700">
            <a:solidFill>
              <a:srgbClr val="E3E6F0"/>
            </a:solidFill>
            <a:prstDash val="solid"/>
          </a:ln>
        </p:spPr>
      </p:sp>
      <p:sp>
        <p:nvSpPr>
          <p:cNvPr id="10" name="st1"/>
          <p:cNvSpPr/>
          <p:nvPr/>
        </p:nvSpPr>
        <p:spPr>
          <a:xfrm>
            <a:off x="3657600" y="1600200"/>
            <a:ext cx="475488" cy="475488"/>
          </a:xfrm>
          <a:prstGeom prst="ellipse">
            <a:avLst/>
          </a:prstGeom>
          <a:solidFill>
            <a:srgbClr val="4F46E5"/>
          </a:solidFill>
          <a:ln w="12700">
            <a:solidFill>
              <a:srgbClr val="4F46E5"/>
            </a:solidFill>
            <a:prstDash val="solid"/>
          </a:ln>
        </p:spPr>
      </p:sp>
      <p:sp>
        <p:nvSpPr>
          <p:cNvPr id="11" name="Text 9"/>
          <p:cNvSpPr txBox="1"/>
          <p:nvPr/>
        </p:nvSpPr>
        <p:spPr>
          <a:xfrm>
            <a:off x="3657600" y="1636776"/>
            <a:ext cx="475488" cy="402336"/>
          </a:xfrm>
          <a:prstGeom prst="rect">
            <a:avLst/>
          </a:prstGeom>
          <a:noFill/>
          <a:ln/>
        </p:spPr>
        <p:txBody>
          <a:bodyPr wrap="square" lIns="0" tIns="0" rIns="0" bIns="0" rtlCol="0" anchor="ctr"/>
          <a:lstStyle/>
          <a:p>
            <a:pPr algn="ctr" indent="0" marL="0">
              <a:buNone/>
            </a:pPr>
            <a:r>
              <a:rPr lang="en-US" sz="1700" b="1" dirty="0">
                <a:solidFill>
                  <a:srgbClr val="FFFFFF"/>
                </a:solidFill>
              </a:rPr>
              <a:t>2</a:t>
            </a:r>
            <a:endParaRPr lang="en-US" sz="1700" dirty="0"/>
          </a:p>
        </p:txBody>
      </p:sp>
      <p:sp>
        <p:nvSpPr>
          <p:cNvPr id="12" name="Text 10"/>
          <p:cNvSpPr txBox="1"/>
          <p:nvPr/>
        </p:nvSpPr>
        <p:spPr>
          <a:xfrm>
            <a:off x="3657600" y="2212848"/>
            <a:ext cx="2194560" cy="365760"/>
          </a:xfrm>
          <a:prstGeom prst="rect">
            <a:avLst/>
          </a:prstGeom>
          <a:noFill/>
          <a:ln/>
        </p:spPr>
        <p:txBody>
          <a:bodyPr wrap="square" lIns="0" tIns="0" rIns="0" bIns="0" rtlCol="0" anchor="ctr"/>
          <a:lstStyle/>
          <a:p>
            <a:pPr indent="0" marL="0">
              <a:buNone/>
            </a:pPr>
            <a:r>
              <a:rPr lang="en-US" sz="1500" b="1" dirty="0">
                <a:solidFill>
                  <a:schemeClr val="tx2"/>
                </a:solidFill>
              </a:rPr>
              <a:t>Làm sạch &amp; lưu trữ</a:t>
            </a:r>
            <a:endParaRPr lang="en-US" sz="1500" dirty="0"/>
          </a:p>
        </p:txBody>
      </p:sp>
      <p:sp>
        <p:nvSpPr>
          <p:cNvPr id="13" name="Text 11"/>
          <p:cNvSpPr txBox="1"/>
          <p:nvPr/>
        </p:nvSpPr>
        <p:spPr>
          <a:xfrm>
            <a:off x="3657600" y="2606040"/>
            <a:ext cx="2194560" cy="914400"/>
          </a:xfrm>
          <a:prstGeom prst="rect">
            <a:avLst/>
          </a:prstGeom>
          <a:noFill/>
          <a:ln/>
        </p:spPr>
        <p:txBody>
          <a:bodyPr wrap="square" lIns="0" tIns="0" rIns="0" bIns="0" rtlCol="0" anchor="ctr"/>
          <a:lstStyle/>
          <a:p>
            <a:pPr indent="0" marL="0">
              <a:buNone/>
            </a:pPr>
            <a:r>
              <a:rPr lang="en-US" sz="1150" dirty="0">
                <a:solidFill>
                  <a:srgbClr val="4B5163"/>
                </a:solidFill>
              </a:rPr>
              <a:t>build_database.py chuẩn hóa và nạp vào SQLite, ghi nhật ký từng bước</a:t>
            </a:r>
            <a:endParaRPr lang="en-US" sz="1150" dirty="0"/>
          </a:p>
        </p:txBody>
      </p:sp>
      <p:sp>
        <p:nvSpPr>
          <p:cNvPr id="14" name="Text 12"/>
          <p:cNvSpPr txBox="1"/>
          <p:nvPr/>
        </p:nvSpPr>
        <p:spPr>
          <a:xfrm>
            <a:off x="6007608" y="2148840"/>
            <a:ext cx="274320" cy="365760"/>
          </a:xfrm>
          <a:prstGeom prst="rect">
            <a:avLst/>
          </a:prstGeom>
          <a:noFill/>
          <a:ln/>
        </p:spPr>
        <p:txBody>
          <a:bodyPr wrap="square" lIns="0" tIns="0" rIns="0" bIns="0" rtlCol="0" anchor="ctr"/>
          <a:lstStyle/>
          <a:p>
            <a:pPr algn="ctr" indent="0" marL="0">
              <a:buNone/>
            </a:pPr>
            <a:r>
              <a:rPr lang="en-US" sz="2400" b="1" dirty="0">
                <a:solidFill>
                  <a:srgbClr val="B6BCD0"/>
                </a:solidFill>
              </a:rPr>
              <a:t>›</a:t>
            </a:r>
            <a:endParaRPr lang="en-US" sz="2400" dirty="0"/>
          </a:p>
        </p:txBody>
      </p:sp>
      <p:sp>
        <p:nvSpPr>
          <p:cNvPr id="15" name="card-6.8500000000000005-1.5"/>
          <p:cNvSpPr/>
          <p:nvPr/>
        </p:nvSpPr>
        <p:spPr>
          <a:xfrm>
            <a:off x="6263640" y="1371600"/>
            <a:ext cx="2606040" cy="2286000"/>
          </a:xfrm>
          <a:prstGeom prst="roundRect">
            <a:avLst>
              <a:gd name="adj" fmla="val 4000"/>
            </a:avLst>
          </a:prstGeom>
          <a:solidFill>
            <a:schemeClr val="bg2"/>
          </a:solidFill>
          <a:ln w="12700">
            <a:solidFill>
              <a:srgbClr val="E3E6F0"/>
            </a:solidFill>
            <a:prstDash val="solid"/>
          </a:ln>
        </p:spPr>
      </p:sp>
      <p:sp>
        <p:nvSpPr>
          <p:cNvPr id="16" name="st2"/>
          <p:cNvSpPr/>
          <p:nvPr/>
        </p:nvSpPr>
        <p:spPr>
          <a:xfrm>
            <a:off x="6492240" y="1600200"/>
            <a:ext cx="475488" cy="475488"/>
          </a:xfrm>
          <a:prstGeom prst="ellipse">
            <a:avLst/>
          </a:prstGeom>
          <a:solidFill>
            <a:srgbClr val="1BAF7A"/>
          </a:solidFill>
          <a:ln w="12700">
            <a:solidFill>
              <a:srgbClr val="1BAF7A"/>
            </a:solidFill>
            <a:prstDash val="solid"/>
          </a:ln>
        </p:spPr>
      </p:sp>
      <p:sp>
        <p:nvSpPr>
          <p:cNvPr id="17" name="Text 15"/>
          <p:cNvSpPr txBox="1"/>
          <p:nvPr/>
        </p:nvSpPr>
        <p:spPr>
          <a:xfrm>
            <a:off x="6492240" y="1636776"/>
            <a:ext cx="475488" cy="402336"/>
          </a:xfrm>
          <a:prstGeom prst="rect">
            <a:avLst/>
          </a:prstGeom>
          <a:noFill/>
          <a:ln/>
        </p:spPr>
        <p:txBody>
          <a:bodyPr wrap="square" lIns="0" tIns="0" rIns="0" bIns="0" rtlCol="0" anchor="ctr"/>
          <a:lstStyle/>
          <a:p>
            <a:pPr algn="ctr" indent="0" marL="0">
              <a:buNone/>
            </a:pPr>
            <a:r>
              <a:rPr lang="en-US" sz="1700" b="1" dirty="0">
                <a:solidFill>
                  <a:srgbClr val="FFFFFF"/>
                </a:solidFill>
              </a:rPr>
              <a:t>3</a:t>
            </a:r>
            <a:endParaRPr lang="en-US" sz="1700" dirty="0"/>
          </a:p>
        </p:txBody>
      </p:sp>
      <p:sp>
        <p:nvSpPr>
          <p:cNvPr id="18" name="Text 16"/>
          <p:cNvSpPr txBox="1"/>
          <p:nvPr/>
        </p:nvSpPr>
        <p:spPr>
          <a:xfrm>
            <a:off x="6492240" y="2212848"/>
            <a:ext cx="2194560" cy="365760"/>
          </a:xfrm>
          <a:prstGeom prst="rect">
            <a:avLst/>
          </a:prstGeom>
          <a:noFill/>
          <a:ln/>
        </p:spPr>
        <p:txBody>
          <a:bodyPr wrap="square" lIns="0" tIns="0" rIns="0" bIns="0" rtlCol="0" anchor="ctr"/>
          <a:lstStyle/>
          <a:p>
            <a:pPr indent="0" marL="0">
              <a:buNone/>
            </a:pPr>
            <a:r>
              <a:rPr lang="en-US" sz="1500" b="1" dirty="0">
                <a:solidFill>
                  <a:schemeClr val="tx2"/>
                </a:solidFill>
              </a:rPr>
              <a:t>Phân tích &amp; học máy</a:t>
            </a:r>
            <a:endParaRPr lang="en-US" sz="1500" dirty="0"/>
          </a:p>
        </p:txBody>
      </p:sp>
      <p:sp>
        <p:nvSpPr>
          <p:cNvPr id="19" name="Text 17"/>
          <p:cNvSpPr txBox="1"/>
          <p:nvPr/>
        </p:nvSpPr>
        <p:spPr>
          <a:xfrm>
            <a:off x="6492240" y="2606040"/>
            <a:ext cx="2194560" cy="914400"/>
          </a:xfrm>
          <a:prstGeom prst="rect">
            <a:avLst/>
          </a:prstGeom>
          <a:noFill/>
          <a:ln/>
        </p:spPr>
        <p:txBody>
          <a:bodyPr wrap="square" lIns="0" tIns="0" rIns="0" bIns="0" rtlCol="0" anchor="ctr"/>
          <a:lstStyle/>
          <a:p>
            <a:pPr indent="0" marL="0">
              <a:buNone/>
            </a:pPr>
            <a:r>
              <a:rPr lang="en-US" sz="1150" dirty="0">
                <a:solidFill>
                  <a:srgbClr val="4B5163"/>
                </a:solidFill>
              </a:rPr>
              <a:t>train_models.py huấn luyện 4 nhóm mô hình, ghi kết quả vào CSDL</a:t>
            </a:r>
            <a:endParaRPr lang="en-US" sz="1150" dirty="0"/>
          </a:p>
        </p:txBody>
      </p:sp>
      <p:sp>
        <p:nvSpPr>
          <p:cNvPr id="20" name="Text 18"/>
          <p:cNvSpPr txBox="1"/>
          <p:nvPr/>
        </p:nvSpPr>
        <p:spPr>
          <a:xfrm>
            <a:off x="8842248" y="2148840"/>
            <a:ext cx="274320" cy="365760"/>
          </a:xfrm>
          <a:prstGeom prst="rect">
            <a:avLst/>
          </a:prstGeom>
          <a:noFill/>
          <a:ln/>
        </p:spPr>
        <p:txBody>
          <a:bodyPr wrap="square" lIns="0" tIns="0" rIns="0" bIns="0" rtlCol="0" anchor="ctr"/>
          <a:lstStyle/>
          <a:p>
            <a:pPr algn="ctr" indent="0" marL="0">
              <a:buNone/>
            </a:pPr>
            <a:r>
              <a:rPr lang="en-US" sz="2400" b="1" dirty="0">
                <a:solidFill>
                  <a:srgbClr val="B6BCD0"/>
                </a:solidFill>
              </a:rPr>
              <a:t>›</a:t>
            </a:r>
            <a:endParaRPr lang="en-US" sz="2400" dirty="0"/>
          </a:p>
        </p:txBody>
      </p:sp>
      <p:sp>
        <p:nvSpPr>
          <p:cNvPr id="21" name="card-9.950000000000001-1.5"/>
          <p:cNvSpPr/>
          <p:nvPr/>
        </p:nvSpPr>
        <p:spPr>
          <a:xfrm>
            <a:off x="9098280" y="1371600"/>
            <a:ext cx="2606040" cy="2286000"/>
          </a:xfrm>
          <a:prstGeom prst="roundRect">
            <a:avLst>
              <a:gd name="adj" fmla="val 4000"/>
            </a:avLst>
          </a:prstGeom>
          <a:solidFill>
            <a:schemeClr val="bg2"/>
          </a:solidFill>
          <a:ln w="12700">
            <a:solidFill>
              <a:srgbClr val="E3E6F0"/>
            </a:solidFill>
            <a:prstDash val="solid"/>
          </a:ln>
        </p:spPr>
      </p:sp>
      <p:sp>
        <p:nvSpPr>
          <p:cNvPr id="22" name="st3"/>
          <p:cNvSpPr/>
          <p:nvPr/>
        </p:nvSpPr>
        <p:spPr>
          <a:xfrm>
            <a:off x="9326880" y="1600200"/>
            <a:ext cx="475488" cy="475488"/>
          </a:xfrm>
          <a:prstGeom prst="ellipse">
            <a:avLst/>
          </a:prstGeom>
          <a:solidFill>
            <a:srgbClr val="EB6834"/>
          </a:solidFill>
          <a:ln w="12700">
            <a:solidFill>
              <a:srgbClr val="EB6834"/>
            </a:solidFill>
            <a:prstDash val="solid"/>
          </a:ln>
        </p:spPr>
      </p:sp>
      <p:sp>
        <p:nvSpPr>
          <p:cNvPr id="23" name="Text 21"/>
          <p:cNvSpPr txBox="1"/>
          <p:nvPr/>
        </p:nvSpPr>
        <p:spPr>
          <a:xfrm>
            <a:off x="9326880" y="1636776"/>
            <a:ext cx="475488" cy="402336"/>
          </a:xfrm>
          <a:prstGeom prst="rect">
            <a:avLst/>
          </a:prstGeom>
          <a:noFill/>
          <a:ln/>
        </p:spPr>
        <p:txBody>
          <a:bodyPr wrap="square" lIns="0" tIns="0" rIns="0" bIns="0" rtlCol="0" anchor="ctr"/>
          <a:lstStyle/>
          <a:p>
            <a:pPr algn="ctr" indent="0" marL="0">
              <a:buNone/>
            </a:pPr>
            <a:r>
              <a:rPr lang="en-US" sz="1700" b="1" dirty="0">
                <a:solidFill>
                  <a:srgbClr val="FFFFFF"/>
                </a:solidFill>
              </a:rPr>
              <a:t>4</a:t>
            </a:r>
            <a:endParaRPr lang="en-US" sz="1700" dirty="0"/>
          </a:p>
        </p:txBody>
      </p:sp>
      <p:sp>
        <p:nvSpPr>
          <p:cNvPr id="24" name="Text 22"/>
          <p:cNvSpPr txBox="1"/>
          <p:nvPr/>
        </p:nvSpPr>
        <p:spPr>
          <a:xfrm>
            <a:off x="9326880" y="2212848"/>
            <a:ext cx="2194560" cy="365760"/>
          </a:xfrm>
          <a:prstGeom prst="rect">
            <a:avLst/>
          </a:prstGeom>
          <a:noFill/>
          <a:ln/>
        </p:spPr>
        <p:txBody>
          <a:bodyPr wrap="square" lIns="0" tIns="0" rIns="0" bIns="0" rtlCol="0" anchor="ctr"/>
          <a:lstStyle/>
          <a:p>
            <a:pPr indent="0" marL="0">
              <a:buNone/>
            </a:pPr>
            <a:r>
              <a:rPr lang="en-US" sz="1500" b="1" dirty="0">
                <a:solidFill>
                  <a:schemeClr val="tx2"/>
                </a:solidFill>
              </a:rPr>
              <a:t>Ứng dụng web</a:t>
            </a:r>
            <a:endParaRPr lang="en-US" sz="1500" dirty="0"/>
          </a:p>
        </p:txBody>
      </p:sp>
      <p:sp>
        <p:nvSpPr>
          <p:cNvPr id="25" name="Text 23"/>
          <p:cNvSpPr txBox="1"/>
          <p:nvPr/>
        </p:nvSpPr>
        <p:spPr>
          <a:xfrm>
            <a:off x="9326880" y="2606040"/>
            <a:ext cx="2194560" cy="914400"/>
          </a:xfrm>
          <a:prstGeom prst="rect">
            <a:avLst/>
          </a:prstGeom>
          <a:noFill/>
          <a:ln/>
        </p:spPr>
        <p:txBody>
          <a:bodyPr wrap="square" lIns="0" tIns="0" rIns="0" bIns="0" rtlCol="0" anchor="ctr"/>
          <a:lstStyle/>
          <a:p>
            <a:pPr indent="0" marL="0">
              <a:buNone/>
            </a:pPr>
            <a:r>
              <a:rPr lang="en-US" sz="1150" dirty="0">
                <a:solidFill>
                  <a:srgbClr val="4B5163"/>
                </a:solidFill>
              </a:rPr>
              <a:t>Flask API và 9 màn hình giao diện, có đăng nhập và phân quyền</a:t>
            </a:r>
            <a:endParaRPr lang="en-US" sz="1150" dirty="0"/>
          </a:p>
        </p:txBody>
      </p:sp>
      <p:sp>
        <p:nvSpPr>
          <p:cNvPr id="26" name="card-0.65-4.25"/>
          <p:cNvSpPr/>
          <p:nvPr/>
        </p:nvSpPr>
        <p:spPr>
          <a:xfrm>
            <a:off x="594360" y="3886200"/>
            <a:ext cx="10972800" cy="1600200"/>
          </a:xfrm>
          <a:prstGeom prst="roundRect">
            <a:avLst>
              <a:gd name="adj" fmla="val 5714"/>
            </a:avLst>
          </a:prstGeom>
          <a:solidFill>
            <a:srgbClr val="F4F5FA"/>
          </a:solidFill>
          <a:ln w="12700">
            <a:solidFill>
              <a:srgbClr val="E3E6F0"/>
            </a:solidFill>
            <a:prstDash val="solid"/>
          </a:ln>
        </p:spPr>
      </p:sp>
      <p:sp>
        <p:nvSpPr>
          <p:cNvPr id="27" name="Text 25"/>
          <p:cNvSpPr txBox="1"/>
          <p:nvPr/>
        </p:nvSpPr>
        <p:spPr>
          <a:xfrm>
            <a:off x="868680" y="4041648"/>
            <a:ext cx="10424160" cy="301752"/>
          </a:xfrm>
          <a:prstGeom prst="rect">
            <a:avLst/>
          </a:prstGeom>
          <a:noFill/>
          <a:ln/>
        </p:spPr>
        <p:txBody>
          <a:bodyPr wrap="square" lIns="0" tIns="0" rIns="0" bIns="0" rtlCol="0" anchor="ctr"/>
          <a:lstStyle/>
          <a:p>
            <a:pPr indent="0" marL="0">
              <a:buNone/>
            </a:pPr>
            <a:r>
              <a:rPr lang="en-US" sz="1500" b="1" dirty="0">
                <a:solidFill>
                  <a:srgbClr val="1E2142"/>
                </a:solidFill>
              </a:rPr>
              <a:t>Một cơ sở dữ liệu duy nhất nối cả bốn tầng</a:t>
            </a:r>
            <a:endParaRPr lang="en-US" sz="1500" dirty="0"/>
          </a:p>
        </p:txBody>
      </p:sp>
      <p:sp>
        <p:nvSpPr>
          <p:cNvPr id="28" name="Text 26"/>
          <p:cNvSpPr txBox="1"/>
          <p:nvPr/>
        </p:nvSpPr>
        <p:spPr>
          <a:xfrm>
            <a:off x="868680" y="4370832"/>
            <a:ext cx="10424160" cy="100584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chemeClr val="tx1"/>
                </a:solidFill>
              </a:rPr>
              <a:t>dataset/beautyprice.db — SQLite, 17 bảng và 2 view, khoảng 9,3 MB: chép thư mục dự án sang máy khác là chạy được</a:t>
            </a:r>
            <a:endParaRPr lang="en-US" sz="1450" dirty="0"/>
          </a:p>
          <a:p>
            <a:pPr marL="342900" indent="-342900">
              <a:spcAft>
                <a:spcPts val="800"/>
              </a:spcAft>
              <a:buSzPct val="100000"/>
              <a:buChar char="•"/>
            </a:pPr>
            <a:r>
              <a:rPr lang="en-US" sz="1450" dirty="0">
                <a:solidFill>
                  <a:schemeClr val="tx1"/>
                </a:solidFill>
              </a:rPr>
              <a:t>Mỗi tầng đều ghi lại dấu vết: dữ liệu thô dạng nén, nhật ký làm sạch etl_log, nhật ký thu thập collection_logs</a:t>
            </a:r>
            <a:endParaRPr lang="en-US" sz="1450" dirty="0"/>
          </a:p>
        </p:txBody>
      </p:sp>
      <p:sp>
        <p:nvSpPr>
          <p:cNvPr id="30" name="Text 0"/>
          <p:cNvSpPr/>
          <p:nvPr>
            <p:ph idx="101" type="body" hasCustomPrompt="1"/>
          </p:nvPr>
        </p:nvSpPr>
        <p:spPr>
          <a:xfrm>
            <a:off x="594360" y="1234440"/>
            <a:ext cx="10972800" cy="4937760"/>
          </a:xfrm>
          <a:prstGeom prst="rect">
            <a:avLst/>
          </a:prstGeom>
          <a:noFill/>
          <a:ln/>
        </p:spPr>
        <p:txBody>
          <a:bodyPr wrap="square" rtlCol="0"/>
          <a:lstStyle/>
          <a:p>
            <a:pPr algn="l" indent="0" marL="0">
              <a:buNone/>
            </a:pPr>
            <a:endParaRPr lang="en-US" sz="1500" dirty="0"/>
          </a:p>
        </p:txBody>
      </p:sp>
      <p:sp>
        <p:nvSpPr>
          <p:cNvPr id="31" name="Text 1"/>
          <p:cNvSpPr/>
          <p:nvPr>
            <p:ph idx="103" hasCustomPrompt="1"/>
          </p:nvPr>
        </p:nvSpPr>
        <p:spPr>
          <a:xfrm>
            <a:off x="11247120" y="6355080"/>
            <a:ext cx="45720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731520"/>
          </a:xfrm>
          <a:prstGeom prst="rect">
            <a:avLst/>
          </a:prstGeom>
          <a:noFill/>
          <a:ln/>
        </p:spPr>
        <p:txBody>
          <a:bodyPr wrap="square" rtlCol="0"/>
          <a:lstStyle/>
          <a:p>
            <a:pPr algn="l" indent="0" marL="0">
              <a:buNone/>
            </a:pPr>
            <a:r>
              <a:rPr lang="en-US" sz="3000" b="1" dirty="0">
                <a:solidFill>
                  <a:schemeClr val="tx2"/>
                </a:solidFill>
              </a:rPr>
              <a:t>Công cụ thu thập dữ liệu đa nguồn</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7040880" cy="914400"/>
        </p:xfrm>
        <a:graphic>
          <a:graphicData uri="http://schemas.openxmlformats.org/drawingml/2006/table">
            <a:tbl>
              <a:tblPr/>
              <a:tblGrid>
                <a:gridCol w="2103120"/>
                <a:gridCol w="3200400"/>
                <a:gridCol w="1737360"/>
              </a:tblGrid>
              <a:tr h="384048">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Nguồn</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Cách lấy dữ liệu</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Kết quả</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Hasaki</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API JSON công khai website tự dùng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Giá và đánh giá</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Cocolux</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API JSON danh sách sản phẩm</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Giá và đánh giá</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Thế Giới Skin Food</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API JSON nền tảng Haravan</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Giá</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Guardian</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Phân tích HTML trang danh mục</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Giá (đợt đầu)</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84048">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Watsons</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Kiểm tra truy cập</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Bị chặn — ghi nhận blocked</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bl>
          </a:graphicData>
        </a:graphic>
      </p:graphicFrame>
      <p:sp>
        <p:nvSpPr>
          <p:cNvPr id="4" name="card-8.6-1.5"/>
          <p:cNvSpPr/>
          <p:nvPr/>
        </p:nvSpPr>
        <p:spPr>
          <a:xfrm>
            <a:off x="7863840" y="1371600"/>
            <a:ext cx="3703320" cy="2697480"/>
          </a:xfrm>
          <a:prstGeom prst="roundRect">
            <a:avLst>
              <a:gd name="adj" fmla="val 3390"/>
            </a:avLst>
          </a:prstGeom>
          <a:solidFill>
            <a:srgbClr val="EEF6EE"/>
          </a:solidFill>
          <a:ln w="12700">
            <a:solidFill>
              <a:srgbClr val="CBE3CB"/>
            </a:solidFill>
            <a:prstDash val="solid"/>
          </a:ln>
        </p:spPr>
      </p:sp>
      <p:sp>
        <p:nvSpPr>
          <p:cNvPr id="5" name="Text 2"/>
          <p:cNvSpPr txBox="1"/>
          <p:nvPr/>
        </p:nvSpPr>
        <p:spPr>
          <a:xfrm>
            <a:off x="8138160" y="1554480"/>
            <a:ext cx="3200400" cy="292608"/>
          </a:xfrm>
          <a:prstGeom prst="rect">
            <a:avLst/>
          </a:prstGeom>
          <a:noFill/>
          <a:ln/>
        </p:spPr>
        <p:txBody>
          <a:bodyPr wrap="square" lIns="0" tIns="0" rIns="0" bIns="0" rtlCol="0" anchor="ctr"/>
          <a:lstStyle/>
          <a:p>
            <a:pPr indent="0" marL="0">
              <a:buNone/>
            </a:pPr>
            <a:r>
              <a:rPr lang="en-US" sz="1500" b="1" dirty="0">
                <a:solidFill>
                  <a:srgbClr val="2C6E2E"/>
                </a:solidFill>
              </a:rPr>
              <a:t>Nguyên tắc thu thập</a:t>
            </a:r>
            <a:endParaRPr lang="en-US" sz="1500" dirty="0"/>
          </a:p>
        </p:txBody>
      </p:sp>
      <p:sp>
        <p:nvSpPr>
          <p:cNvPr id="6" name="Text 3"/>
          <p:cNvSpPr txBox="1"/>
          <p:nvPr/>
        </p:nvSpPr>
        <p:spPr>
          <a:xfrm>
            <a:off x="8138160" y="1874520"/>
            <a:ext cx="3200400" cy="201168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chemeClr val="tx1"/>
                </a:solidFill>
              </a:rPr>
              <a:t>Đọc và tuân thủ robots.txt</a:t>
            </a:r>
            <a:endParaRPr lang="en-US" sz="1450" dirty="0"/>
          </a:p>
          <a:p>
            <a:pPr marL="342900" indent="-342900">
              <a:spcAft>
                <a:spcPts val="800"/>
              </a:spcAft>
              <a:buSzPct val="100000"/>
              <a:buChar char="•"/>
            </a:pPr>
            <a:r>
              <a:rPr lang="en-US" sz="1450" dirty="0">
                <a:solidFill>
                  <a:schemeClr val="tx1"/>
                </a:solidFill>
              </a:rPr>
              <a:t>Giãn cách tối thiểu 1 giây mỗi yêu cầu</a:t>
            </a:r>
            <a:endParaRPr lang="en-US" sz="1450" dirty="0"/>
          </a:p>
          <a:p>
            <a:pPr marL="342900" indent="-342900">
              <a:spcAft>
                <a:spcPts val="800"/>
              </a:spcAft>
              <a:buSzPct val="100000"/>
              <a:buChar char="•"/>
            </a:pPr>
            <a:r>
              <a:rPr lang="en-US" sz="1450" dirty="0">
                <a:solidFill>
                  <a:schemeClr val="tx1"/>
                </a:solidFill>
              </a:rPr>
              <a:t>Website chặn bot thì dừng, không vượt rào</a:t>
            </a:r>
            <a:endParaRPr lang="en-US" sz="1450" dirty="0"/>
          </a:p>
          <a:p>
            <a:pPr marL="342900" indent="-342900">
              <a:spcAft>
                <a:spcPts val="800"/>
              </a:spcAft>
              <a:buSzPct val="100000"/>
              <a:buChar char="•"/>
            </a:pPr>
            <a:r>
              <a:rPr lang="en-US" sz="1450" dirty="0">
                <a:solidFill>
                  <a:schemeClr val="tx1"/>
                </a:solidFill>
              </a:rPr>
              <a:t>Tên người đánh giá chỉ lưu dạng rút gọn</a:t>
            </a:r>
            <a:endParaRPr lang="en-US" sz="1450" dirty="0"/>
          </a:p>
        </p:txBody>
      </p:sp>
      <p:sp>
        <p:nvSpPr>
          <p:cNvPr id="7" name="card-0.65-4.7"/>
          <p:cNvSpPr/>
          <p:nvPr/>
        </p:nvSpPr>
        <p:spPr>
          <a:xfrm>
            <a:off x="594360" y="4297680"/>
            <a:ext cx="10972800" cy="1234440"/>
          </a:xfrm>
          <a:prstGeom prst="roundRect">
            <a:avLst>
              <a:gd name="adj" fmla="val 7407"/>
            </a:avLst>
          </a:prstGeom>
          <a:solidFill>
            <a:srgbClr val="F4F5FA"/>
          </a:solidFill>
          <a:ln w="12700">
            <a:solidFill>
              <a:srgbClr val="E3E6F0"/>
            </a:solidFill>
            <a:prstDash val="solid"/>
          </a:ln>
        </p:spPr>
      </p:sp>
      <p:sp>
        <p:nvSpPr>
          <p:cNvPr id="8" name="Text 5"/>
          <p:cNvSpPr txBox="1"/>
          <p:nvPr/>
        </p:nvSpPr>
        <p:spPr>
          <a:xfrm>
            <a:off x="868680" y="4434840"/>
            <a:ext cx="10424160" cy="274320"/>
          </a:xfrm>
          <a:prstGeom prst="rect">
            <a:avLst/>
          </a:prstGeom>
          <a:noFill/>
          <a:ln/>
        </p:spPr>
        <p:txBody>
          <a:bodyPr wrap="square" lIns="0" tIns="0" rIns="0" bIns="0" rtlCol="0" anchor="ctr"/>
          <a:lstStyle/>
          <a:p>
            <a:pPr indent="0" marL="0">
              <a:buNone/>
            </a:pPr>
            <a:r>
              <a:rPr lang="en-US" sz="1450" b="1" dirty="0">
                <a:solidFill>
                  <a:srgbClr val="1E2142"/>
                </a:solidFill>
              </a:rPr>
              <a:t>Điểm đáng chú ý</a:t>
            </a:r>
            <a:endParaRPr lang="en-US" sz="1450" dirty="0"/>
          </a:p>
        </p:txBody>
      </p:sp>
      <p:sp>
        <p:nvSpPr>
          <p:cNvPr id="9" name="Text 6"/>
          <p:cNvSpPr txBox="1"/>
          <p:nvPr/>
        </p:nvSpPr>
        <p:spPr>
          <a:xfrm>
            <a:off x="868680" y="4736592"/>
            <a:ext cx="10424160" cy="685800"/>
          </a:xfrm>
          <a:prstGeom prst="rect">
            <a:avLst/>
          </a:prstGeom>
          <a:noFill/>
          <a:ln/>
        </p:spPr>
        <p:txBody>
          <a:bodyPr wrap="square" lIns="0" tIns="0" rIns="0" bIns="0" rtlCol="0" anchor="ctr"/>
          <a:lstStyle/>
          <a:p>
            <a:pPr indent="0" marL="0">
              <a:buNone/>
            </a:pPr>
            <a:r>
              <a:rPr lang="en-US" sz="1250" dirty="0">
                <a:solidFill>
                  <a:srgbClr val="4B5163"/>
                </a:solidFill>
              </a:rPr>
              <a:t>Mã sản phẩm sinh bằng SHA-256 từ cặp (nhà bán lẻ, liên kết), trùng công thức với dữ liệu gốc — nên mỗi lần thu thập mới hệ thống tự nối tiếp lịch sử giá thay vì tạo sản phẩm trùng. Công cụ chạy được cả bằng dòng lệnh lẫn ngay trên website, có lịch tự động.</a:t>
            </a:r>
            <a:endParaRPr lang="en-US" sz="1250" dirty="0"/>
          </a:p>
        </p:txBody>
      </p:sp>
      <p:sp>
        <p:nvSpPr>
          <p:cNvPr id="11" name="Text 0"/>
          <p:cNvSpPr/>
          <p:nvPr>
            <p:ph idx="101" type="body" hasCustomPrompt="1"/>
          </p:nvPr>
        </p:nvSpPr>
        <p:spPr>
          <a:xfrm>
            <a:off x="594360" y="1234440"/>
            <a:ext cx="10972800" cy="4937760"/>
          </a:xfrm>
          <a:prstGeom prst="rect">
            <a:avLst/>
          </a:prstGeom>
          <a:noFill/>
          <a:ln/>
        </p:spPr>
        <p:txBody>
          <a:bodyPr wrap="square" rtlCol="0"/>
          <a:lstStyle/>
          <a:p>
            <a:pPr algn="l" indent="0" marL="0">
              <a:buNone/>
            </a:pPr>
            <a:endParaRPr lang="en-US" sz="1500" dirty="0"/>
          </a:p>
        </p:txBody>
      </p:sp>
      <p:sp>
        <p:nvSpPr>
          <p:cNvPr id="12" name="Text 1"/>
          <p:cNvSpPr/>
          <p:nvPr>
            <p:ph idx="103" hasCustomPrompt="1"/>
          </p:nvPr>
        </p:nvSpPr>
        <p:spPr>
          <a:xfrm>
            <a:off x="11247120" y="6355080"/>
            <a:ext cx="45720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731520"/>
          </a:xfrm>
          <a:prstGeom prst="rect">
            <a:avLst/>
          </a:prstGeom>
          <a:noFill/>
          <a:ln/>
        </p:spPr>
        <p:txBody>
          <a:bodyPr wrap="square" rtlCol="0"/>
          <a:lstStyle/>
          <a:p>
            <a:pPr algn="l" indent="0" marL="0">
              <a:buNone/>
            </a:pPr>
            <a:r>
              <a:rPr lang="en-US" sz="3000" b="1" dirty="0">
                <a:solidFill>
                  <a:schemeClr val="tx2"/>
                </a:solidFill>
              </a:rPr>
              <a:t>Làm sạch và chuẩn hóa dữ liệu</a:t>
            </a:r>
            <a:endParaRPr lang="en-US" sz="3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94360" y="1371600"/>
          <a:ext cx="7680960" cy="914400"/>
        </p:xfrm>
        <a:graphic>
          <a:graphicData uri="http://schemas.openxmlformats.org/drawingml/2006/table">
            <a:tbl>
              <a:tblPr/>
              <a:tblGrid>
                <a:gridCol w="3063240"/>
                <a:gridCol w="2423160"/>
                <a:gridCol w="2194560"/>
              </a:tblGrid>
              <a:tr h="365760">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Vấn đề phát hiện</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Cách xử lý</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Tác động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Thương hiệu viết nhiều kiểu</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Gộp theo khóa chuẩn hóa</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1.611 SP → còn 418 thương hiệu</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 giảm giá trên web sai lệch</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Tính lại từ hai mức giá</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4.861 bản ghi</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Rating = 0 nhưng là chưa có đánh giá</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Ghi NULL thay vì 0</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864 bản ghi</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Thiếu giá niêm yết</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Để NULL, không đoán 0%</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1.489 bản ghi</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Đánh giá nối sai theo tên gần đúng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Nối theo mã sản phẩm ở nguồn</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6.588 / 6.673 đánh giá</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Tên có ký tự vô hình</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Chuẩn hóa Unicode NFC</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43 sản phẩm</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bl>
          </a:graphicData>
        </a:graphic>
      </p:graphicFrame>
      <p:sp>
        <p:nvSpPr>
          <p:cNvPr id="4" name="card-9.3-1.5"/>
          <p:cNvSpPr/>
          <p:nvPr/>
        </p:nvSpPr>
        <p:spPr>
          <a:xfrm>
            <a:off x="8503920" y="1371600"/>
            <a:ext cx="3063240" cy="2103120"/>
          </a:xfrm>
          <a:prstGeom prst="roundRect">
            <a:avLst>
              <a:gd name="adj" fmla="val 4348"/>
            </a:avLst>
          </a:prstGeom>
          <a:solidFill>
            <a:srgbClr val="EEF0FF"/>
          </a:solidFill>
          <a:ln w="12700">
            <a:solidFill>
              <a:srgbClr val="D5D8FA"/>
            </a:solidFill>
            <a:prstDash val="solid"/>
          </a:ln>
        </p:spPr>
      </p:sp>
      <p:sp>
        <p:nvSpPr>
          <p:cNvPr id="5" name="Text 2"/>
          <p:cNvSpPr txBox="1"/>
          <p:nvPr/>
        </p:nvSpPr>
        <p:spPr>
          <a:xfrm>
            <a:off x="8778240" y="1554480"/>
            <a:ext cx="2560320" cy="274320"/>
          </a:xfrm>
          <a:prstGeom prst="rect">
            <a:avLst/>
          </a:prstGeom>
          <a:noFill/>
          <a:ln/>
        </p:spPr>
        <p:txBody>
          <a:bodyPr wrap="square" lIns="0" tIns="0" rIns="0" bIns="0" rtlCol="0" anchor="ctr"/>
          <a:lstStyle/>
          <a:p>
            <a:pPr indent="0" marL="0">
              <a:buNone/>
            </a:pPr>
            <a:r>
              <a:rPr lang="en-US" sz="1450" b="1" dirty="0">
                <a:solidFill>
                  <a:srgbClr val="4F46E5"/>
                </a:solidFill>
              </a:rPr>
              <a:t>Minh bạch quy trình</a:t>
            </a:r>
            <a:endParaRPr lang="en-US" sz="1450" dirty="0"/>
          </a:p>
        </p:txBody>
      </p:sp>
      <p:sp>
        <p:nvSpPr>
          <p:cNvPr id="6" name="Text 3"/>
          <p:cNvSpPr txBox="1"/>
          <p:nvPr/>
        </p:nvSpPr>
        <p:spPr>
          <a:xfrm>
            <a:off x="8778240" y="1874520"/>
            <a:ext cx="2560320" cy="1463040"/>
          </a:xfrm>
          <a:prstGeom prst="rect">
            <a:avLst/>
          </a:prstGeom>
          <a:noFill/>
          <a:ln/>
        </p:spPr>
        <p:txBody>
          <a:bodyPr wrap="square" lIns="0" tIns="0" rIns="0" bIns="0" rtlCol="0" anchor="ctr"/>
          <a:lstStyle/>
          <a:p>
            <a:pPr indent="0" marL="0">
              <a:buNone/>
            </a:pPr>
            <a:r>
              <a:rPr lang="en-US" sz="1200" dirty="0">
                <a:solidFill>
                  <a:srgbClr val="4B5163"/>
                </a:solidFill>
              </a:rPr>
              <a:t>Mỗi bước làm sạch ghi một dòng vào bảng etl_log: tên bước, bảng, số dòng vào, ra và bị tác động. Người chấm xem lại được ngay trên trang Báo cáo.</a:t>
            </a:r>
            <a:endParaRPr lang="en-US" sz="1200" dirty="0"/>
          </a:p>
        </p:txBody>
      </p:sp>
      <p:sp>
        <p:nvSpPr>
          <p:cNvPr id="7" name="card-9.3-3.95"/>
          <p:cNvSpPr/>
          <p:nvPr/>
        </p:nvSpPr>
        <p:spPr>
          <a:xfrm>
            <a:off x="8503920" y="3611880"/>
            <a:ext cx="3063240" cy="1783080"/>
          </a:xfrm>
          <a:prstGeom prst="roundRect">
            <a:avLst>
              <a:gd name="adj" fmla="val 5128"/>
            </a:avLst>
          </a:prstGeom>
          <a:solidFill>
            <a:srgbClr val="EEF6EE"/>
          </a:solidFill>
          <a:ln w="12700">
            <a:solidFill>
              <a:srgbClr val="CBE3CB"/>
            </a:solidFill>
            <a:prstDash val="solid"/>
          </a:ln>
        </p:spPr>
      </p:sp>
      <p:sp>
        <p:nvSpPr>
          <p:cNvPr id="8" name="Text 5"/>
          <p:cNvSpPr txBox="1"/>
          <p:nvPr/>
        </p:nvSpPr>
        <p:spPr>
          <a:xfrm>
            <a:off x="8778240" y="3794760"/>
            <a:ext cx="2560320" cy="274320"/>
          </a:xfrm>
          <a:prstGeom prst="rect">
            <a:avLst/>
          </a:prstGeom>
          <a:noFill/>
          <a:ln/>
        </p:spPr>
        <p:txBody>
          <a:bodyPr wrap="square" lIns="0" tIns="0" rIns="0" bIns="0" rtlCol="0" anchor="ctr"/>
          <a:lstStyle/>
          <a:p>
            <a:pPr indent="0" marL="0">
              <a:buNone/>
            </a:pPr>
            <a:r>
              <a:rPr lang="en-US" sz="1450" b="1" dirty="0">
                <a:solidFill>
                  <a:srgbClr val="2C6E2E"/>
                </a:solidFill>
              </a:rPr>
              <a:t>Kiểm chứng độc lập</a:t>
            </a:r>
            <a:endParaRPr lang="en-US" sz="1450" dirty="0"/>
          </a:p>
        </p:txBody>
      </p:sp>
      <p:sp>
        <p:nvSpPr>
          <p:cNvPr id="9" name="Text 6"/>
          <p:cNvSpPr txBox="1"/>
          <p:nvPr/>
        </p:nvSpPr>
        <p:spPr>
          <a:xfrm>
            <a:off x="8778240" y="4114800"/>
            <a:ext cx="2560320" cy="1188720"/>
          </a:xfrm>
          <a:prstGeom prst="rect">
            <a:avLst/>
          </a:prstGeom>
          <a:noFill/>
          <a:ln/>
        </p:spPr>
        <p:txBody>
          <a:bodyPr wrap="square" lIns="0" tIns="0" rIns="0" bIns="0" rtlCol="0" anchor="ctr"/>
          <a:lstStyle/>
          <a:p>
            <a:pPr indent="0" marL="0">
              <a:buNone/>
            </a:pPr>
            <a:r>
              <a:rPr lang="en-US" sz="1200" dirty="0">
                <a:solidFill>
                  <a:srgbClr val="4B5163"/>
                </a:solidFill>
              </a:rPr>
              <a:t>verify_database.py đọc thẳng CSV bằng Python thuần, tự tính lại rồi so với kết quả SQL. Hiện tất cả các mục đều PASS.</a:t>
            </a:r>
            <a:endParaRPr lang="en-US" sz="1200" dirty="0"/>
          </a:p>
        </p:txBody>
      </p:sp>
      <p:sp>
        <p:nvSpPr>
          <p:cNvPr id="10" name="Text 7"/>
          <p:cNvSpPr txBox="1"/>
          <p:nvPr/>
        </p:nvSpPr>
        <p:spPr>
          <a:xfrm>
            <a:off x="594360" y="5532120"/>
            <a:ext cx="10972800" cy="320040"/>
          </a:xfrm>
          <a:prstGeom prst="rect">
            <a:avLst/>
          </a:prstGeom>
          <a:noFill/>
          <a:ln/>
        </p:spPr>
        <p:txBody>
          <a:bodyPr wrap="square" lIns="0" tIns="0" rIns="0" bIns="0" rtlCol="0" anchor="ctr"/>
          <a:lstStyle/>
          <a:p>
            <a:pPr indent="0" marL="0">
              <a:buNone/>
            </a:pPr>
            <a:r>
              <a:rPr lang="en-US" sz="1250" i="1" dirty="0">
                <a:solidFill>
                  <a:srgbClr val="6B7280"/>
                </a:solidFill>
              </a:rPr>
              <a:t>Phần lớn công sức của đồ án nằm ở khâu làm sạch và kiểm chứng, không phải ở khâu dựng mô hình.</a:t>
            </a:r>
            <a:endParaRPr lang="en-US" sz="1250" dirty="0"/>
          </a:p>
        </p:txBody>
      </p:sp>
      <p:sp>
        <p:nvSpPr>
          <p:cNvPr id="12" name="Text 0"/>
          <p:cNvSpPr/>
          <p:nvPr>
            <p:ph idx="101" type="body" hasCustomPrompt="1"/>
          </p:nvPr>
        </p:nvSpPr>
        <p:spPr>
          <a:xfrm>
            <a:off x="594360" y="1234440"/>
            <a:ext cx="10972800" cy="4937760"/>
          </a:xfrm>
          <a:prstGeom prst="rect">
            <a:avLst/>
          </a:prstGeom>
          <a:noFill/>
          <a:ln/>
        </p:spPr>
        <p:txBody>
          <a:bodyPr wrap="square" rtlCol="0"/>
          <a:lstStyle/>
          <a:p>
            <a:pPr algn="l" indent="0" marL="0">
              <a:buNone/>
            </a:pPr>
            <a:endParaRPr lang="en-US" sz="1500" dirty="0"/>
          </a:p>
        </p:txBody>
      </p:sp>
      <p:sp>
        <p:nvSpPr>
          <p:cNvPr id="13" name="Text 1"/>
          <p:cNvSpPr/>
          <p:nvPr>
            <p:ph idx="103" hasCustomPrompt="1"/>
          </p:nvPr>
        </p:nvSpPr>
        <p:spPr>
          <a:xfrm>
            <a:off x="11247120" y="6355080"/>
            <a:ext cx="45720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731520"/>
          </a:xfrm>
          <a:prstGeom prst="rect">
            <a:avLst/>
          </a:prstGeom>
          <a:noFill/>
          <a:ln/>
        </p:spPr>
        <p:txBody>
          <a:bodyPr wrap="square" rtlCol="0"/>
          <a:lstStyle/>
          <a:p>
            <a:pPr algn="l" indent="0" marL="0">
              <a:buNone/>
            </a:pPr>
            <a:r>
              <a:rPr lang="en-US" sz="3000" b="1" dirty="0">
                <a:solidFill>
                  <a:schemeClr val="tx2"/>
                </a:solidFill>
              </a:rPr>
              <a:t>Thiết kế cơ sở dữ liệu</a:t>
            </a:r>
            <a:endParaRPr lang="en-US" sz="3000" dirty="0"/>
          </a:p>
        </p:txBody>
      </p:sp>
      <p:sp>
        <p:nvSpPr>
          <p:cNvPr id="3" name="n1"/>
          <p:cNvSpPr/>
          <p:nvPr/>
        </p:nvSpPr>
        <p:spPr>
          <a:xfrm>
            <a:off x="640080" y="1463040"/>
            <a:ext cx="384048" cy="384048"/>
          </a:xfrm>
          <a:prstGeom prst="ellipse">
            <a:avLst/>
          </a:prstGeom>
          <a:solidFill>
            <a:srgbClr val="2A78D6"/>
          </a:solidFill>
          <a:ln w="12700">
            <a:solidFill>
              <a:srgbClr val="2A78D6"/>
            </a:solidFill>
            <a:prstDash val="solid"/>
          </a:ln>
        </p:spPr>
      </p:sp>
      <p:sp>
        <p:nvSpPr>
          <p:cNvPr id="4" name="Text 2"/>
          <p:cNvSpPr txBox="1"/>
          <p:nvPr/>
        </p:nvSpPr>
        <p:spPr>
          <a:xfrm>
            <a:off x="640080" y="149047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207008" y="1444752"/>
            <a:ext cx="5193792" cy="274320"/>
          </a:xfrm>
          <a:prstGeom prst="rect">
            <a:avLst/>
          </a:prstGeom>
          <a:noFill/>
          <a:ln/>
        </p:spPr>
        <p:txBody>
          <a:bodyPr wrap="square" lIns="0" tIns="0" rIns="0" bIns="0" rtlCol="0" anchor="ctr"/>
          <a:lstStyle/>
          <a:p>
            <a:pPr indent="0" marL="0">
              <a:buNone/>
            </a:pPr>
            <a:r>
              <a:rPr lang="en-US" sz="1450" b="1" dirty="0">
                <a:solidFill>
                  <a:schemeClr val="tx2"/>
                </a:solidFill>
              </a:rPr>
              <a:t>Danh mục nền</a:t>
            </a:r>
            <a:endParaRPr lang="en-US" sz="1450" dirty="0"/>
          </a:p>
        </p:txBody>
      </p:sp>
      <p:sp>
        <p:nvSpPr>
          <p:cNvPr id="6" name="Text 4"/>
          <p:cNvSpPr txBox="1"/>
          <p:nvPr/>
        </p:nvSpPr>
        <p:spPr>
          <a:xfrm>
            <a:off x="1207008" y="1709928"/>
            <a:ext cx="5193792" cy="475488"/>
          </a:xfrm>
          <a:prstGeom prst="rect">
            <a:avLst/>
          </a:prstGeom>
          <a:noFill/>
          <a:ln/>
        </p:spPr>
        <p:txBody>
          <a:bodyPr wrap="square" lIns="0" tIns="0" rIns="0" bIns="0" rtlCol="0" anchor="ctr"/>
          <a:lstStyle/>
          <a:p>
            <a:pPr indent="0" marL="0">
              <a:buNone/>
            </a:pPr>
            <a:r>
              <a:rPr lang="en-US" sz="1200" dirty="0">
                <a:solidFill>
                  <a:srgbClr val="4B5163"/>
                </a:solidFill>
              </a:rPr>
              <a:t>retailers · categories</a:t>
            </a:r>
            <a:endParaRPr lang="en-US" sz="1200" dirty="0"/>
          </a:p>
        </p:txBody>
      </p:sp>
      <p:sp>
        <p:nvSpPr>
          <p:cNvPr id="7" name="n2"/>
          <p:cNvSpPr/>
          <p:nvPr/>
        </p:nvSpPr>
        <p:spPr>
          <a:xfrm>
            <a:off x="640080" y="2404872"/>
            <a:ext cx="384048" cy="384048"/>
          </a:xfrm>
          <a:prstGeom prst="ellipse">
            <a:avLst/>
          </a:prstGeom>
          <a:solidFill>
            <a:srgbClr val="4F46E5"/>
          </a:solidFill>
          <a:ln w="12700">
            <a:solidFill>
              <a:srgbClr val="4F46E5"/>
            </a:solidFill>
            <a:prstDash val="solid"/>
          </a:ln>
        </p:spPr>
      </p:sp>
      <p:sp>
        <p:nvSpPr>
          <p:cNvPr id="8" name="Text 6"/>
          <p:cNvSpPr txBox="1"/>
          <p:nvPr/>
        </p:nvSpPr>
        <p:spPr>
          <a:xfrm>
            <a:off x="640080" y="2432304"/>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1207008" y="2386584"/>
            <a:ext cx="5193792" cy="274320"/>
          </a:xfrm>
          <a:prstGeom prst="rect">
            <a:avLst/>
          </a:prstGeom>
          <a:noFill/>
          <a:ln/>
        </p:spPr>
        <p:txBody>
          <a:bodyPr wrap="square" lIns="0" tIns="0" rIns="0" bIns="0" rtlCol="0" anchor="ctr"/>
          <a:lstStyle/>
          <a:p>
            <a:pPr indent="0" marL="0">
              <a:buNone/>
            </a:pPr>
            <a:r>
              <a:rPr lang="en-US" sz="1450" b="1" dirty="0">
                <a:solidFill>
                  <a:schemeClr val="tx2"/>
                </a:solidFill>
              </a:rPr>
              <a:t>Dữ liệu nghiệp vụ</a:t>
            </a:r>
            <a:endParaRPr lang="en-US" sz="1450" dirty="0"/>
          </a:p>
        </p:txBody>
      </p:sp>
      <p:sp>
        <p:nvSpPr>
          <p:cNvPr id="10" name="Text 8"/>
          <p:cNvSpPr txBox="1"/>
          <p:nvPr/>
        </p:nvSpPr>
        <p:spPr>
          <a:xfrm>
            <a:off x="1207008" y="2651760"/>
            <a:ext cx="5193792" cy="475488"/>
          </a:xfrm>
          <a:prstGeom prst="rect">
            <a:avLst/>
          </a:prstGeom>
          <a:noFill/>
          <a:ln/>
        </p:spPr>
        <p:txBody>
          <a:bodyPr wrap="square" lIns="0" tIns="0" rIns="0" bIns="0" rtlCol="0" anchor="ctr"/>
          <a:lstStyle/>
          <a:p>
            <a:pPr indent="0" marL="0">
              <a:buNone/>
            </a:pPr>
            <a:r>
              <a:rPr lang="en-US" sz="1200" dirty="0">
                <a:solidFill>
                  <a:srgbClr val="4B5163"/>
                </a:solidFill>
              </a:rPr>
              <a:t>products · product_categories · price_snapshots · reviews · review_links</a:t>
            </a:r>
            <a:endParaRPr lang="en-US" sz="1200" dirty="0"/>
          </a:p>
        </p:txBody>
      </p:sp>
      <p:sp>
        <p:nvSpPr>
          <p:cNvPr id="11" name="n3"/>
          <p:cNvSpPr/>
          <p:nvPr/>
        </p:nvSpPr>
        <p:spPr>
          <a:xfrm>
            <a:off x="640080" y="3346704"/>
            <a:ext cx="384048" cy="384048"/>
          </a:xfrm>
          <a:prstGeom prst="ellipse">
            <a:avLst/>
          </a:prstGeom>
          <a:solidFill>
            <a:srgbClr val="EB6834"/>
          </a:solidFill>
          <a:ln w="12700">
            <a:solidFill>
              <a:srgbClr val="EB6834"/>
            </a:solidFill>
            <a:prstDash val="solid"/>
          </a:ln>
        </p:spPr>
      </p:sp>
      <p:sp>
        <p:nvSpPr>
          <p:cNvPr id="12" name="Text 10"/>
          <p:cNvSpPr txBox="1"/>
          <p:nvPr/>
        </p:nvSpPr>
        <p:spPr>
          <a:xfrm>
            <a:off x="640080" y="3374136"/>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Text 11"/>
          <p:cNvSpPr txBox="1"/>
          <p:nvPr/>
        </p:nvSpPr>
        <p:spPr>
          <a:xfrm>
            <a:off x="1207008" y="3328416"/>
            <a:ext cx="5193792" cy="274320"/>
          </a:xfrm>
          <a:prstGeom prst="rect">
            <a:avLst/>
          </a:prstGeom>
          <a:noFill/>
          <a:ln/>
        </p:spPr>
        <p:txBody>
          <a:bodyPr wrap="square" lIns="0" tIns="0" rIns="0" bIns="0" rtlCol="0" anchor="ctr"/>
          <a:lstStyle/>
          <a:p>
            <a:pPr indent="0" marL="0">
              <a:buNone/>
            </a:pPr>
            <a:r>
              <a:rPr lang="en-US" sz="1450" b="1" dirty="0">
                <a:solidFill>
                  <a:schemeClr val="tx2"/>
                </a:solidFill>
              </a:rPr>
              <a:t>Vận hành hệ thống</a:t>
            </a:r>
            <a:endParaRPr lang="en-US" sz="1450" dirty="0"/>
          </a:p>
        </p:txBody>
      </p:sp>
      <p:sp>
        <p:nvSpPr>
          <p:cNvPr id="14" name="Text 12"/>
          <p:cNvSpPr txBox="1"/>
          <p:nvPr/>
        </p:nvSpPr>
        <p:spPr>
          <a:xfrm>
            <a:off x="1207008" y="3593592"/>
            <a:ext cx="5193792" cy="475488"/>
          </a:xfrm>
          <a:prstGeom prst="rect">
            <a:avLst/>
          </a:prstGeom>
          <a:noFill/>
          <a:ln/>
        </p:spPr>
        <p:txBody>
          <a:bodyPr wrap="square" lIns="0" tIns="0" rIns="0" bIns="0" rtlCol="0" anchor="ctr"/>
          <a:lstStyle/>
          <a:p>
            <a:pPr indent="0" marL="0">
              <a:buNone/>
            </a:pPr>
            <a:r>
              <a:rPr lang="en-US" sz="1200" dirty="0">
                <a:solidFill>
                  <a:srgbClr val="4B5163"/>
                </a:solidFill>
              </a:rPr>
              <a:t>users · app_settings · collection_logs · etl_log</a:t>
            </a:r>
            <a:endParaRPr lang="en-US" sz="1200" dirty="0"/>
          </a:p>
        </p:txBody>
      </p:sp>
      <p:sp>
        <p:nvSpPr>
          <p:cNvPr id="15" name="n4"/>
          <p:cNvSpPr/>
          <p:nvPr/>
        </p:nvSpPr>
        <p:spPr>
          <a:xfrm>
            <a:off x="640080" y="4288536"/>
            <a:ext cx="384048" cy="384048"/>
          </a:xfrm>
          <a:prstGeom prst="ellipse">
            <a:avLst/>
          </a:prstGeom>
          <a:solidFill>
            <a:srgbClr val="1BAF7A"/>
          </a:solidFill>
          <a:ln w="12700">
            <a:solidFill>
              <a:srgbClr val="1BAF7A"/>
            </a:solidFill>
            <a:prstDash val="solid"/>
          </a:ln>
        </p:spPr>
      </p:sp>
      <p:sp>
        <p:nvSpPr>
          <p:cNvPr id="16" name="Text 14"/>
          <p:cNvSpPr txBox="1"/>
          <p:nvPr/>
        </p:nvSpPr>
        <p:spPr>
          <a:xfrm>
            <a:off x="640080" y="4315968"/>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5"/>
          <p:cNvSpPr txBox="1"/>
          <p:nvPr/>
        </p:nvSpPr>
        <p:spPr>
          <a:xfrm>
            <a:off x="1207008" y="4270248"/>
            <a:ext cx="5193792" cy="274320"/>
          </a:xfrm>
          <a:prstGeom prst="rect">
            <a:avLst/>
          </a:prstGeom>
          <a:noFill/>
          <a:ln/>
        </p:spPr>
        <p:txBody>
          <a:bodyPr wrap="square" lIns="0" tIns="0" rIns="0" bIns="0" rtlCol="0" anchor="ctr"/>
          <a:lstStyle/>
          <a:p>
            <a:pPr indent="0" marL="0">
              <a:buNone/>
            </a:pPr>
            <a:r>
              <a:rPr lang="en-US" sz="1450" b="1" dirty="0">
                <a:solidFill>
                  <a:schemeClr val="tx2"/>
                </a:solidFill>
              </a:rPr>
              <a:t>Kết quả học máy</a:t>
            </a:r>
            <a:endParaRPr lang="en-US" sz="1450" dirty="0"/>
          </a:p>
        </p:txBody>
      </p:sp>
      <p:sp>
        <p:nvSpPr>
          <p:cNvPr id="18" name="Text 16"/>
          <p:cNvSpPr txBox="1"/>
          <p:nvPr/>
        </p:nvSpPr>
        <p:spPr>
          <a:xfrm>
            <a:off x="1207008" y="4535424"/>
            <a:ext cx="5193792" cy="475488"/>
          </a:xfrm>
          <a:prstGeom prst="rect">
            <a:avLst/>
          </a:prstGeom>
          <a:noFill/>
          <a:ln/>
        </p:spPr>
        <p:txBody>
          <a:bodyPr wrap="square" lIns="0" tIns="0" rIns="0" bIns="0" rtlCol="0" anchor="ctr"/>
          <a:lstStyle/>
          <a:p>
            <a:pPr indent="0" marL="0">
              <a:buNone/>
            </a:pPr>
            <a:r>
              <a:rPr lang="en-US" sz="1200" dirty="0">
                <a:solidFill>
                  <a:srgbClr val="4B5163"/>
                </a:solidFill>
              </a:rPr>
              <a:t>ml_runs · ml_price_predictions · ml_clusters · ml_anomalies</a:t>
            </a:r>
            <a:endParaRPr lang="en-US" sz="1200" dirty="0"/>
          </a:p>
        </p:txBody>
      </p:sp>
      <p:sp>
        <p:nvSpPr>
          <p:cNvPr id="19" name="card-7.35-1.5"/>
          <p:cNvSpPr/>
          <p:nvPr/>
        </p:nvSpPr>
        <p:spPr>
          <a:xfrm>
            <a:off x="6720840" y="1371600"/>
            <a:ext cx="4846320" cy="2148840"/>
          </a:xfrm>
          <a:prstGeom prst="roundRect">
            <a:avLst>
              <a:gd name="adj" fmla="val 4255"/>
            </a:avLst>
          </a:prstGeom>
          <a:solidFill>
            <a:srgbClr val="F4F5FA"/>
          </a:solidFill>
          <a:ln w="12700">
            <a:solidFill>
              <a:srgbClr val="E3E6F0"/>
            </a:solidFill>
            <a:prstDash val="solid"/>
          </a:ln>
        </p:spPr>
      </p:sp>
      <p:sp>
        <p:nvSpPr>
          <p:cNvPr id="20" name="Text 18"/>
          <p:cNvSpPr txBox="1"/>
          <p:nvPr/>
        </p:nvSpPr>
        <p:spPr>
          <a:xfrm>
            <a:off x="6995160" y="1536192"/>
            <a:ext cx="4297680" cy="274320"/>
          </a:xfrm>
          <a:prstGeom prst="rect">
            <a:avLst/>
          </a:prstGeom>
          <a:noFill/>
          <a:ln/>
        </p:spPr>
        <p:txBody>
          <a:bodyPr wrap="square" lIns="0" tIns="0" rIns="0" bIns="0" rtlCol="0" anchor="ctr"/>
          <a:lstStyle/>
          <a:p>
            <a:pPr indent="0" marL="0">
              <a:buNone/>
            </a:pPr>
            <a:r>
              <a:rPr lang="en-US" sz="1450" b="1" dirty="0">
                <a:solidFill>
                  <a:srgbClr val="1E2142"/>
                </a:solidFill>
              </a:rPr>
              <a:t>Vì sao chọn SQLite</a:t>
            </a:r>
            <a:endParaRPr lang="en-US" sz="1450" dirty="0"/>
          </a:p>
        </p:txBody>
      </p:sp>
      <p:sp>
        <p:nvSpPr>
          <p:cNvPr id="21" name="Text 19"/>
          <p:cNvSpPr txBox="1"/>
          <p:nvPr/>
        </p:nvSpPr>
        <p:spPr>
          <a:xfrm>
            <a:off x="6995160" y="1847088"/>
            <a:ext cx="4297680" cy="155448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chemeClr val="tx1"/>
                </a:solidFill>
              </a:rPr>
              <a:t>Không cần cài máy chủ CSDL — chạy ngay khi chấm bài</a:t>
            </a:r>
            <a:endParaRPr lang="en-US" sz="1450" dirty="0"/>
          </a:p>
          <a:p>
            <a:pPr marL="342900" indent="-342900">
              <a:spcAft>
                <a:spcPts val="800"/>
              </a:spcAft>
              <a:buSzPct val="100000"/>
              <a:buChar char="•"/>
            </a:pPr>
            <a:r>
              <a:rPr lang="en-US" sz="1450" dirty="0">
                <a:solidFill>
                  <a:schemeClr val="tx1"/>
                </a:solidFill>
              </a:rPr>
              <a:t>Toàn bộ CSDL là một tệp, mang sang máy khác là chạy</a:t>
            </a:r>
            <a:endParaRPr lang="en-US" sz="1450" dirty="0"/>
          </a:p>
          <a:p>
            <a:pPr marL="342900" indent="-342900">
              <a:spcAft>
                <a:spcPts val="800"/>
              </a:spcAft>
              <a:buSzPct val="100000"/>
              <a:buChar char="•"/>
            </a:pPr>
            <a:r>
              <a:rPr lang="en-US" sz="1450" dirty="0">
                <a:solidFill>
                  <a:schemeClr val="tx1"/>
                </a:solidFill>
              </a:rPr>
              <a:t>Vẫn đủ khóa ngoại, CHECK, view và hàm cửa sổ</a:t>
            </a:r>
            <a:endParaRPr lang="en-US" sz="1450" dirty="0"/>
          </a:p>
        </p:txBody>
      </p:sp>
      <p:sp>
        <p:nvSpPr>
          <p:cNvPr id="22" name="card-7.35-4"/>
          <p:cNvSpPr/>
          <p:nvPr/>
        </p:nvSpPr>
        <p:spPr>
          <a:xfrm>
            <a:off x="6720840" y="3657600"/>
            <a:ext cx="4846320" cy="1828800"/>
          </a:xfrm>
          <a:prstGeom prst="roundRect">
            <a:avLst>
              <a:gd name="adj" fmla="val 5000"/>
            </a:avLst>
          </a:prstGeom>
          <a:solidFill>
            <a:srgbClr val="FFF7E8"/>
          </a:solidFill>
          <a:ln w="12700">
            <a:solidFill>
              <a:srgbClr val="F3DFB5"/>
            </a:solidFill>
            <a:prstDash val="solid"/>
          </a:ln>
        </p:spPr>
      </p:sp>
      <p:sp>
        <p:nvSpPr>
          <p:cNvPr id="23" name="Text 21"/>
          <p:cNvSpPr txBox="1"/>
          <p:nvPr/>
        </p:nvSpPr>
        <p:spPr>
          <a:xfrm>
            <a:off x="6995160" y="3822192"/>
            <a:ext cx="4297680" cy="274320"/>
          </a:xfrm>
          <a:prstGeom prst="rect">
            <a:avLst/>
          </a:prstGeom>
          <a:noFill/>
          <a:ln/>
        </p:spPr>
        <p:txBody>
          <a:bodyPr wrap="square" lIns="0" tIns="0" rIns="0" bIns="0" rtlCol="0" anchor="ctr"/>
          <a:lstStyle/>
          <a:p>
            <a:pPr indent="0" marL="0">
              <a:buNone/>
            </a:pPr>
            <a:r>
              <a:rPr lang="en-US" sz="1450" b="1" dirty="0">
                <a:solidFill>
                  <a:srgbClr val="9A6A00"/>
                </a:solidFill>
              </a:rPr>
              <a:t>Quy tắc nghiệp vụ quan trọng</a:t>
            </a:r>
            <a:endParaRPr lang="en-US" sz="1450" dirty="0"/>
          </a:p>
        </p:txBody>
      </p:sp>
      <p:sp>
        <p:nvSpPr>
          <p:cNvPr id="24" name="Text 22"/>
          <p:cNvSpPr txBox="1"/>
          <p:nvPr/>
        </p:nvSpPr>
        <p:spPr>
          <a:xfrm>
            <a:off x="6995160" y="4133088"/>
            <a:ext cx="4297680" cy="1188720"/>
          </a:xfrm>
          <a:prstGeom prst="rect">
            <a:avLst/>
          </a:prstGeom>
          <a:noFill/>
          <a:ln/>
        </p:spPr>
        <p:txBody>
          <a:bodyPr wrap="square" lIns="0" tIns="0" rIns="0" bIns="0" rtlCol="0" anchor="ctr"/>
          <a:lstStyle/>
          <a:p>
            <a:pPr indent="0" marL="0">
              <a:buNone/>
            </a:pPr>
            <a:r>
              <a:rPr lang="en-US" sz="1250" dirty="0">
                <a:solidFill>
                  <a:srgbClr val="4B5163"/>
                </a:solidFill>
              </a:rPr>
              <a:t>Sửa giá trên web không ghi đè bản ghi cũ mà thêm một bản ghi giá mới. Nhờ vậy lịch sử giá được giữ nguyên và biểu đồ biến động giá phản ánh đúng thực tế.</a:t>
            </a:r>
            <a:endParaRPr lang="en-US" sz="1250" dirty="0"/>
          </a:p>
        </p:txBody>
      </p:sp>
      <p:sp>
        <p:nvSpPr>
          <p:cNvPr id="26" name="Text 0"/>
          <p:cNvSpPr/>
          <p:nvPr>
            <p:ph idx="101" type="body" hasCustomPrompt="1"/>
          </p:nvPr>
        </p:nvSpPr>
        <p:spPr>
          <a:xfrm>
            <a:off x="594360" y="1234440"/>
            <a:ext cx="10972800" cy="4937760"/>
          </a:xfrm>
          <a:prstGeom prst="rect">
            <a:avLst/>
          </a:prstGeom>
          <a:noFill/>
          <a:ln/>
        </p:spPr>
        <p:txBody>
          <a:bodyPr wrap="square" rtlCol="0"/>
          <a:lstStyle/>
          <a:p>
            <a:pPr algn="l" indent="0" marL="0">
              <a:buNone/>
            </a:pPr>
            <a:endParaRPr lang="en-US" sz="1500" dirty="0"/>
          </a:p>
        </p:txBody>
      </p:sp>
      <p:sp>
        <p:nvSpPr>
          <p:cNvPr id="27" name="Text 1"/>
          <p:cNvSpPr/>
          <p:nvPr>
            <p:ph idx="103" hasCustomPrompt="1"/>
          </p:nvPr>
        </p:nvSpPr>
        <p:spPr>
          <a:xfrm>
            <a:off x="11247120" y="6355080"/>
            <a:ext cx="45720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731520"/>
          </a:xfrm>
          <a:prstGeom prst="rect">
            <a:avLst/>
          </a:prstGeom>
          <a:noFill/>
          <a:ln/>
        </p:spPr>
        <p:txBody>
          <a:bodyPr wrap="square" rtlCol="0"/>
          <a:lstStyle/>
          <a:p>
            <a:pPr algn="l" indent="0" marL="0">
              <a:buNone/>
            </a:pPr>
            <a:r>
              <a:rPr lang="en-US" sz="3000" b="1" dirty="0">
                <a:solidFill>
                  <a:schemeClr val="tx2"/>
                </a:solidFill>
              </a:rPr>
              <a:t>Trực quan hóa dữ liệu</a:t>
            </a:r>
            <a:endParaRPr lang="en-US" sz="3000" dirty="0"/>
          </a:p>
        </p:txBody>
      </p:sp>
      <p:graphicFrame>
        <p:nvGraphicFramePr>
          <p:cNvPr id="3" name="Chart 0" descr=""/>
          <p:cNvGraphicFramePr/>
          <p:nvPr/>
        </p:nvGraphicFramePr>
        <p:xfrm>
          <a:off x="594360" y="1325880"/>
          <a:ext cx="5577840" cy="22860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309360" y="1325880"/>
          <a:ext cx="5257800" cy="2286000"/>
        </p:xfrm>
        <a:graphic xmlns:a="http://schemas.openxmlformats.org/drawingml/2006/main">
          <a:graphicData uri="http://schemas.openxmlformats.org/drawingml/2006/chart">
            <c:chart xmlns:c="http://schemas.openxmlformats.org/drawingml/2006/chart" r:id="rId2"/>
          </a:graphicData>
        </a:graphic>
      </p:graphicFrame>
      <p:sp>
        <p:nvSpPr>
          <p:cNvPr id="5" name="card-0.65-4.15"/>
          <p:cNvSpPr/>
          <p:nvPr/>
        </p:nvSpPr>
        <p:spPr>
          <a:xfrm>
            <a:off x="594360" y="3794760"/>
            <a:ext cx="10972800" cy="1737360"/>
          </a:xfrm>
          <a:prstGeom prst="roundRect">
            <a:avLst>
              <a:gd name="adj" fmla="val 5263"/>
            </a:avLst>
          </a:prstGeom>
          <a:solidFill>
            <a:srgbClr val="F4F5FA"/>
          </a:solidFill>
          <a:ln w="12700">
            <a:solidFill>
              <a:srgbClr val="E3E6F0"/>
            </a:solidFill>
            <a:prstDash val="solid"/>
          </a:ln>
        </p:spPr>
      </p:sp>
      <p:sp>
        <p:nvSpPr>
          <p:cNvPr id="6" name="Text 2"/>
          <p:cNvSpPr txBox="1"/>
          <p:nvPr/>
        </p:nvSpPr>
        <p:spPr>
          <a:xfrm>
            <a:off x="868680" y="3950208"/>
            <a:ext cx="10424160" cy="274320"/>
          </a:xfrm>
          <a:prstGeom prst="rect">
            <a:avLst/>
          </a:prstGeom>
          <a:noFill/>
          <a:ln/>
        </p:spPr>
        <p:txBody>
          <a:bodyPr wrap="square" lIns="0" tIns="0" rIns="0" bIns="0" rtlCol="0" anchor="ctr"/>
          <a:lstStyle/>
          <a:p>
            <a:pPr indent="0" marL="0">
              <a:buNone/>
            </a:pPr>
            <a:r>
              <a:rPr lang="en-US" sz="1450" b="1" dirty="0">
                <a:solidFill>
                  <a:srgbClr val="1E2142"/>
                </a:solidFill>
              </a:rPr>
              <a:t>8 loại biểu đồ trên 9 màn hình</a:t>
            </a:r>
            <a:endParaRPr lang="en-US" sz="1450" dirty="0"/>
          </a:p>
        </p:txBody>
      </p:sp>
      <p:sp>
        <p:nvSpPr>
          <p:cNvPr id="7" name="Text 3"/>
          <p:cNvSpPr txBox="1"/>
          <p:nvPr/>
        </p:nvSpPr>
        <p:spPr>
          <a:xfrm>
            <a:off x="868680" y="4251960"/>
            <a:ext cx="10424160" cy="118872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chemeClr val="tx1"/>
                </a:solidFill>
              </a:rPr>
              <a:t>Cột · cột ngang · cột chồng 100% · vành khuyên · đường · phân tán · bong bóng · ma trận nhầm lẫn</a:t>
            </a:r>
            <a:endParaRPr lang="en-US" sz="1450" dirty="0"/>
          </a:p>
          <a:p>
            <a:pPr marL="342900" indent="-342900">
              <a:spcAft>
                <a:spcPts val="800"/>
              </a:spcAft>
              <a:buSzPct val="100000"/>
              <a:buChar char="•"/>
            </a:pPr>
            <a:r>
              <a:rPr lang="en-US" sz="1450" dirty="0">
                <a:solidFill>
                  <a:schemeClr val="tx1"/>
                </a:solidFill>
              </a:rPr>
              <a:t>Bảng màu đã kiểm tra cho người mù màu; màu gán cố định theo thực thể nên lọc dữ liệu không làm đổi màu nhóm còn lại</a:t>
            </a:r>
            <a:endParaRPr lang="en-US" sz="1450" dirty="0"/>
          </a:p>
          <a:p>
            <a:pPr marL="342900" indent="-342900">
              <a:spcAft>
                <a:spcPts val="800"/>
              </a:spcAft>
              <a:buSzPct val="100000"/>
              <a:buChar char="•"/>
            </a:pPr>
            <a:r>
              <a:rPr lang="en-US" sz="1450" dirty="0">
                <a:solidFill>
                  <a:schemeClr val="tx1"/>
                </a:solidFill>
              </a:rPr>
              <a:t>Trang Báo cáo có riêng mục danh sách min – max theo danh mục, nhà bán lẻ và từng chỉ số</a:t>
            </a:r>
            <a:endParaRPr lang="en-US" sz="1450" dirty="0"/>
          </a:p>
        </p:txBody>
      </p:sp>
      <p:sp>
        <p:nvSpPr>
          <p:cNvPr id="9" name="Text 0"/>
          <p:cNvSpPr/>
          <p:nvPr>
            <p:ph idx="101" type="body" hasCustomPrompt="1"/>
          </p:nvPr>
        </p:nvSpPr>
        <p:spPr>
          <a:xfrm>
            <a:off x="594360" y="1234440"/>
            <a:ext cx="10972800" cy="4937760"/>
          </a:xfrm>
          <a:prstGeom prst="rect">
            <a:avLst/>
          </a:prstGeom>
          <a:noFill/>
          <a:ln/>
        </p:spPr>
        <p:txBody>
          <a:bodyPr wrap="square" rtlCol="0"/>
          <a:lstStyle/>
          <a:p>
            <a:pPr algn="l" indent="0" marL="0">
              <a:buNone/>
            </a:pPr>
            <a:endParaRPr lang="en-US" sz="1500" dirty="0"/>
          </a:p>
        </p:txBody>
      </p:sp>
      <p:sp>
        <p:nvSpPr>
          <p:cNvPr id="10" name="Text 1"/>
          <p:cNvSpPr/>
          <p:nvPr>
            <p:ph idx="103" hasCustomPrompt="1"/>
          </p:nvPr>
        </p:nvSpPr>
        <p:spPr>
          <a:xfrm>
            <a:off x="11247120" y="6355080"/>
            <a:ext cx="45720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731520"/>
          </a:xfrm>
          <a:prstGeom prst="rect">
            <a:avLst/>
          </a:prstGeom>
          <a:noFill/>
          <a:ln/>
        </p:spPr>
        <p:txBody>
          <a:bodyPr wrap="square" rtlCol="0"/>
          <a:lstStyle/>
          <a:p>
            <a:pPr algn="l" indent="0" marL="0">
              <a:buNone/>
            </a:pPr>
            <a:r>
              <a:rPr lang="en-US" sz="3000" b="1" dirty="0">
                <a:solidFill>
                  <a:schemeClr val="tx2"/>
                </a:solidFill>
              </a:rPr>
              <a:t>Bốn bài toán học máy</a:t>
            </a:r>
            <a:endParaRPr lang="en-US" sz="3000" dirty="0"/>
          </a:p>
        </p:txBody>
      </p:sp>
      <p:sp>
        <p:nvSpPr>
          <p:cNvPr id="3" name="card-0.65-1.45"/>
          <p:cNvSpPr/>
          <p:nvPr/>
        </p:nvSpPr>
        <p:spPr>
          <a:xfrm>
            <a:off x="594360" y="1325880"/>
            <a:ext cx="2606040" cy="2103120"/>
          </a:xfrm>
          <a:prstGeom prst="roundRect">
            <a:avLst>
              <a:gd name="adj" fmla="val 4348"/>
            </a:avLst>
          </a:prstGeom>
          <a:solidFill>
            <a:schemeClr val="bg2"/>
          </a:solidFill>
          <a:ln w="12700">
            <a:solidFill>
              <a:srgbClr val="E3E6F0"/>
            </a:solidFill>
            <a:prstDash val="solid"/>
          </a:ln>
        </p:spPr>
      </p:sp>
      <p:sp>
        <p:nvSpPr>
          <p:cNvPr id="4" name="tag0"/>
          <p:cNvSpPr/>
          <p:nvPr/>
        </p:nvSpPr>
        <p:spPr>
          <a:xfrm>
            <a:off x="822960" y="1536192"/>
            <a:ext cx="868680" cy="237744"/>
          </a:xfrm>
          <a:prstGeom prst="roundRect">
            <a:avLst>
              <a:gd name="adj" fmla="val 50000"/>
            </a:avLst>
          </a:prstGeom>
          <a:solidFill>
            <a:srgbClr val="4F46E5"/>
          </a:solidFill>
          <a:ln w="12700">
            <a:solidFill>
              <a:srgbClr val="4F46E5"/>
            </a:solidFill>
            <a:prstDash val="solid"/>
          </a:ln>
        </p:spPr>
      </p:sp>
      <p:sp>
        <p:nvSpPr>
          <p:cNvPr id="5" name="Text 3"/>
          <p:cNvSpPr txBox="1"/>
          <p:nvPr/>
        </p:nvSpPr>
        <p:spPr>
          <a:xfrm>
            <a:off x="822960" y="1545336"/>
            <a:ext cx="868680" cy="219456"/>
          </a:xfrm>
          <a:prstGeom prst="rect">
            <a:avLst/>
          </a:prstGeom>
          <a:noFill/>
          <a:ln/>
        </p:spPr>
        <p:txBody>
          <a:bodyPr wrap="square" lIns="0" tIns="0" rIns="0" bIns="0" rtlCol="0" anchor="ctr"/>
          <a:lstStyle/>
          <a:p>
            <a:pPr algn="ctr" indent="0" marL="0">
              <a:buNone/>
            </a:pPr>
            <a:r>
              <a:rPr lang="en-US" sz="1050" b="1" dirty="0">
                <a:solidFill>
                  <a:srgbClr val="FFFFFF"/>
                </a:solidFill>
              </a:rPr>
              <a:t>#1</a:t>
            </a:r>
            <a:endParaRPr lang="en-US" sz="1050" dirty="0"/>
          </a:p>
        </p:txBody>
      </p:sp>
      <p:sp>
        <p:nvSpPr>
          <p:cNvPr id="6" name="Text 4"/>
          <p:cNvSpPr txBox="1"/>
          <p:nvPr/>
        </p:nvSpPr>
        <p:spPr>
          <a:xfrm>
            <a:off x="822960" y="1856232"/>
            <a:ext cx="2194560" cy="329184"/>
          </a:xfrm>
          <a:prstGeom prst="rect">
            <a:avLst/>
          </a:prstGeom>
          <a:noFill/>
          <a:ln/>
        </p:spPr>
        <p:txBody>
          <a:bodyPr wrap="square" lIns="0" tIns="0" rIns="0" bIns="0" rtlCol="0" anchor="ctr"/>
          <a:lstStyle/>
          <a:p>
            <a:pPr indent="0" marL="0">
              <a:buNone/>
            </a:pPr>
            <a:r>
              <a:rPr lang="en-US" sz="1450" b="1" dirty="0">
                <a:solidFill>
                  <a:schemeClr val="tx2"/>
                </a:solidFill>
              </a:rPr>
              <a:t>Dự đoán giá bán</a:t>
            </a:r>
            <a:endParaRPr lang="en-US" sz="1450" dirty="0"/>
          </a:p>
        </p:txBody>
      </p:sp>
      <p:sp>
        <p:nvSpPr>
          <p:cNvPr id="7" name="Text 5"/>
          <p:cNvSpPr txBox="1"/>
          <p:nvPr/>
        </p:nvSpPr>
        <p:spPr>
          <a:xfrm>
            <a:off x="822960" y="2194560"/>
            <a:ext cx="2194560" cy="256032"/>
          </a:xfrm>
          <a:prstGeom prst="rect">
            <a:avLst/>
          </a:prstGeom>
          <a:noFill/>
          <a:ln/>
        </p:spPr>
        <p:txBody>
          <a:bodyPr wrap="square" lIns="0" tIns="0" rIns="0" bIns="0" rtlCol="0" anchor="ctr"/>
          <a:lstStyle/>
          <a:p>
            <a:pPr indent="0" marL="0">
              <a:buNone/>
            </a:pPr>
            <a:r>
              <a:rPr lang="en-US" sz="1100" dirty="0">
                <a:solidFill>
                  <a:srgbClr val="6B7280"/>
                </a:solidFill>
              </a:rPr>
              <a:t>Học có giám sát · hồi quy</a:t>
            </a:r>
            <a:endParaRPr lang="en-US" sz="1100" dirty="0"/>
          </a:p>
        </p:txBody>
      </p:sp>
      <p:sp>
        <p:nvSpPr>
          <p:cNvPr id="8" name="Text 6"/>
          <p:cNvSpPr txBox="1"/>
          <p:nvPr/>
        </p:nvSpPr>
        <p:spPr>
          <a:xfrm>
            <a:off x="822960" y="2487168"/>
            <a:ext cx="2194560" cy="274320"/>
          </a:xfrm>
          <a:prstGeom prst="rect">
            <a:avLst/>
          </a:prstGeom>
          <a:noFill/>
          <a:ln/>
        </p:spPr>
        <p:txBody>
          <a:bodyPr wrap="square" lIns="0" tIns="0" rIns="0" bIns="0" rtlCol="0" anchor="ctr"/>
          <a:lstStyle/>
          <a:p>
            <a:pPr indent="0" marL="0">
              <a:buNone/>
            </a:pPr>
            <a:r>
              <a:rPr lang="en-US" sz="1250" b="1" dirty="0">
                <a:solidFill>
                  <a:srgbClr val="4F46E5"/>
                </a:solidFill>
              </a:rPr>
              <a:t>Random Forest</a:t>
            </a:r>
            <a:endParaRPr lang="en-US" sz="1250" dirty="0"/>
          </a:p>
        </p:txBody>
      </p:sp>
      <p:sp>
        <p:nvSpPr>
          <p:cNvPr id="9" name="Text 7"/>
          <p:cNvSpPr txBox="1"/>
          <p:nvPr/>
        </p:nvSpPr>
        <p:spPr>
          <a:xfrm>
            <a:off x="822960" y="2779776"/>
            <a:ext cx="2194560" cy="502920"/>
          </a:xfrm>
          <a:prstGeom prst="rect">
            <a:avLst/>
          </a:prstGeom>
          <a:noFill/>
          <a:ln/>
        </p:spPr>
        <p:txBody>
          <a:bodyPr wrap="square" lIns="0" tIns="0" rIns="0" bIns="0" rtlCol="0" anchor="ctr"/>
          <a:lstStyle/>
          <a:p>
            <a:pPr indent="0" marL="0">
              <a:buNone/>
            </a:pPr>
            <a:r>
              <a:rPr lang="en-US" sz="1150" dirty="0">
                <a:solidFill>
                  <a:srgbClr val="4B5163"/>
                </a:solidFill>
              </a:rPr>
              <a:t>MAE 90.290 đ · R² 0,536</a:t>
            </a:r>
            <a:endParaRPr lang="en-US" sz="1150" dirty="0"/>
          </a:p>
        </p:txBody>
      </p:sp>
      <p:sp>
        <p:nvSpPr>
          <p:cNvPr id="10" name="card-3.75-1.45"/>
          <p:cNvSpPr/>
          <p:nvPr/>
        </p:nvSpPr>
        <p:spPr>
          <a:xfrm>
            <a:off x="3429000" y="1325880"/>
            <a:ext cx="2606040" cy="2103120"/>
          </a:xfrm>
          <a:prstGeom prst="roundRect">
            <a:avLst>
              <a:gd name="adj" fmla="val 4348"/>
            </a:avLst>
          </a:prstGeom>
          <a:solidFill>
            <a:schemeClr val="bg2"/>
          </a:solidFill>
          <a:ln w="12700">
            <a:solidFill>
              <a:srgbClr val="E3E6F0"/>
            </a:solidFill>
            <a:prstDash val="solid"/>
          </a:ln>
        </p:spPr>
      </p:sp>
      <p:sp>
        <p:nvSpPr>
          <p:cNvPr id="11" name="tag1"/>
          <p:cNvSpPr/>
          <p:nvPr/>
        </p:nvSpPr>
        <p:spPr>
          <a:xfrm>
            <a:off x="3657600" y="1536192"/>
            <a:ext cx="868680" cy="237744"/>
          </a:xfrm>
          <a:prstGeom prst="roundRect">
            <a:avLst>
              <a:gd name="adj" fmla="val 50000"/>
            </a:avLst>
          </a:prstGeom>
          <a:solidFill>
            <a:srgbClr val="2A78D6"/>
          </a:solidFill>
          <a:ln w="12700">
            <a:solidFill>
              <a:srgbClr val="2A78D6"/>
            </a:solidFill>
            <a:prstDash val="solid"/>
          </a:ln>
        </p:spPr>
      </p:sp>
      <p:sp>
        <p:nvSpPr>
          <p:cNvPr id="12" name="Text 10"/>
          <p:cNvSpPr txBox="1"/>
          <p:nvPr/>
        </p:nvSpPr>
        <p:spPr>
          <a:xfrm>
            <a:off x="3657600" y="1545336"/>
            <a:ext cx="868680" cy="219456"/>
          </a:xfrm>
          <a:prstGeom prst="rect">
            <a:avLst/>
          </a:prstGeom>
          <a:noFill/>
          <a:ln/>
        </p:spPr>
        <p:txBody>
          <a:bodyPr wrap="square" lIns="0" tIns="0" rIns="0" bIns="0" rtlCol="0" anchor="ctr"/>
          <a:lstStyle/>
          <a:p>
            <a:pPr algn="ctr" indent="0" marL="0">
              <a:buNone/>
            </a:pPr>
            <a:r>
              <a:rPr lang="en-US" sz="1050" b="1" dirty="0">
                <a:solidFill>
                  <a:srgbClr val="FFFFFF"/>
                </a:solidFill>
              </a:rPr>
              <a:t>#2</a:t>
            </a:r>
            <a:endParaRPr lang="en-US" sz="1050" dirty="0"/>
          </a:p>
        </p:txBody>
      </p:sp>
      <p:sp>
        <p:nvSpPr>
          <p:cNvPr id="13" name="Text 11"/>
          <p:cNvSpPr txBox="1"/>
          <p:nvPr/>
        </p:nvSpPr>
        <p:spPr>
          <a:xfrm>
            <a:off x="3657600" y="1856232"/>
            <a:ext cx="2194560" cy="329184"/>
          </a:xfrm>
          <a:prstGeom prst="rect">
            <a:avLst/>
          </a:prstGeom>
          <a:noFill/>
          <a:ln/>
        </p:spPr>
        <p:txBody>
          <a:bodyPr wrap="square" lIns="0" tIns="0" rIns="0" bIns="0" rtlCol="0" anchor="ctr"/>
          <a:lstStyle/>
          <a:p>
            <a:pPr indent="0" marL="0">
              <a:buNone/>
            </a:pPr>
            <a:r>
              <a:rPr lang="en-US" sz="1450" b="1" dirty="0">
                <a:solidFill>
                  <a:schemeClr val="tx2"/>
                </a:solidFill>
              </a:rPr>
              <a:t>Phân khúc giá</a:t>
            </a:r>
            <a:endParaRPr lang="en-US" sz="1450" dirty="0"/>
          </a:p>
        </p:txBody>
      </p:sp>
      <p:sp>
        <p:nvSpPr>
          <p:cNvPr id="14" name="Text 12"/>
          <p:cNvSpPr txBox="1"/>
          <p:nvPr/>
        </p:nvSpPr>
        <p:spPr>
          <a:xfrm>
            <a:off x="3657600" y="2194560"/>
            <a:ext cx="2194560" cy="256032"/>
          </a:xfrm>
          <a:prstGeom prst="rect">
            <a:avLst/>
          </a:prstGeom>
          <a:noFill/>
          <a:ln/>
        </p:spPr>
        <p:txBody>
          <a:bodyPr wrap="square" lIns="0" tIns="0" rIns="0" bIns="0" rtlCol="0" anchor="ctr"/>
          <a:lstStyle/>
          <a:p>
            <a:pPr indent="0" marL="0">
              <a:buNone/>
            </a:pPr>
            <a:r>
              <a:rPr lang="en-US" sz="1100" dirty="0">
                <a:solidFill>
                  <a:srgbClr val="6B7280"/>
                </a:solidFill>
              </a:rPr>
              <a:t>Học có giám sát · phân loại</a:t>
            </a:r>
            <a:endParaRPr lang="en-US" sz="1100" dirty="0"/>
          </a:p>
        </p:txBody>
      </p:sp>
      <p:sp>
        <p:nvSpPr>
          <p:cNvPr id="15" name="Text 13"/>
          <p:cNvSpPr txBox="1"/>
          <p:nvPr/>
        </p:nvSpPr>
        <p:spPr>
          <a:xfrm>
            <a:off x="3657600" y="2487168"/>
            <a:ext cx="2194560" cy="274320"/>
          </a:xfrm>
          <a:prstGeom prst="rect">
            <a:avLst/>
          </a:prstGeom>
          <a:noFill/>
          <a:ln/>
        </p:spPr>
        <p:txBody>
          <a:bodyPr wrap="square" lIns="0" tIns="0" rIns="0" bIns="0" rtlCol="0" anchor="ctr"/>
          <a:lstStyle/>
          <a:p>
            <a:pPr indent="0" marL="0">
              <a:buNone/>
            </a:pPr>
            <a:r>
              <a:rPr lang="en-US" sz="1250" b="1" dirty="0">
                <a:solidFill>
                  <a:srgbClr val="2A78D6"/>
                </a:solidFill>
              </a:rPr>
              <a:t>Extra Trees</a:t>
            </a:r>
            <a:endParaRPr lang="en-US" sz="1250" dirty="0"/>
          </a:p>
        </p:txBody>
      </p:sp>
      <p:sp>
        <p:nvSpPr>
          <p:cNvPr id="16" name="Text 14"/>
          <p:cNvSpPr txBox="1"/>
          <p:nvPr/>
        </p:nvSpPr>
        <p:spPr>
          <a:xfrm>
            <a:off x="3657600" y="2779776"/>
            <a:ext cx="2194560" cy="502920"/>
          </a:xfrm>
          <a:prstGeom prst="rect">
            <a:avLst/>
          </a:prstGeom>
          <a:noFill/>
          <a:ln/>
        </p:spPr>
        <p:txBody>
          <a:bodyPr wrap="square" lIns="0" tIns="0" rIns="0" bIns="0" rtlCol="0" anchor="ctr"/>
          <a:lstStyle/>
          <a:p>
            <a:pPr indent="0" marL="0">
              <a:buNone/>
            </a:pPr>
            <a:r>
              <a:rPr lang="en-US" sz="1150" dirty="0">
                <a:solidFill>
                  <a:srgbClr val="4B5163"/>
                </a:solidFill>
              </a:rPr>
              <a:t>Accuracy 73,5% · F1 0,732</a:t>
            </a:r>
            <a:endParaRPr lang="en-US" sz="1150" dirty="0"/>
          </a:p>
        </p:txBody>
      </p:sp>
      <p:sp>
        <p:nvSpPr>
          <p:cNvPr id="17" name="card-6.8500000000000005-1.45"/>
          <p:cNvSpPr/>
          <p:nvPr/>
        </p:nvSpPr>
        <p:spPr>
          <a:xfrm>
            <a:off x="6263640" y="1325880"/>
            <a:ext cx="2606040" cy="2103120"/>
          </a:xfrm>
          <a:prstGeom prst="roundRect">
            <a:avLst>
              <a:gd name="adj" fmla="val 4348"/>
            </a:avLst>
          </a:prstGeom>
          <a:solidFill>
            <a:schemeClr val="bg2"/>
          </a:solidFill>
          <a:ln w="12700">
            <a:solidFill>
              <a:srgbClr val="E3E6F0"/>
            </a:solidFill>
            <a:prstDash val="solid"/>
          </a:ln>
        </p:spPr>
      </p:sp>
      <p:sp>
        <p:nvSpPr>
          <p:cNvPr id="18" name="tag2"/>
          <p:cNvSpPr/>
          <p:nvPr/>
        </p:nvSpPr>
        <p:spPr>
          <a:xfrm>
            <a:off x="6492240" y="1536192"/>
            <a:ext cx="868680" cy="237744"/>
          </a:xfrm>
          <a:prstGeom prst="roundRect">
            <a:avLst>
              <a:gd name="adj" fmla="val 50000"/>
            </a:avLst>
          </a:prstGeom>
          <a:solidFill>
            <a:srgbClr val="1BAF7A"/>
          </a:solidFill>
          <a:ln w="12700">
            <a:solidFill>
              <a:srgbClr val="1BAF7A"/>
            </a:solidFill>
            <a:prstDash val="solid"/>
          </a:ln>
        </p:spPr>
      </p:sp>
      <p:sp>
        <p:nvSpPr>
          <p:cNvPr id="19" name="Text 17"/>
          <p:cNvSpPr txBox="1"/>
          <p:nvPr/>
        </p:nvSpPr>
        <p:spPr>
          <a:xfrm>
            <a:off x="6492240" y="1545336"/>
            <a:ext cx="868680" cy="219456"/>
          </a:xfrm>
          <a:prstGeom prst="rect">
            <a:avLst/>
          </a:prstGeom>
          <a:noFill/>
          <a:ln/>
        </p:spPr>
        <p:txBody>
          <a:bodyPr wrap="square" lIns="0" tIns="0" rIns="0" bIns="0" rtlCol="0" anchor="ctr"/>
          <a:lstStyle/>
          <a:p>
            <a:pPr algn="ctr" indent="0" marL="0">
              <a:buNone/>
            </a:pPr>
            <a:r>
              <a:rPr lang="en-US" sz="1050" b="1" dirty="0">
                <a:solidFill>
                  <a:srgbClr val="FFFFFF"/>
                </a:solidFill>
              </a:rPr>
              <a:t>#3</a:t>
            </a:r>
            <a:endParaRPr lang="en-US" sz="1050" dirty="0"/>
          </a:p>
        </p:txBody>
      </p:sp>
      <p:sp>
        <p:nvSpPr>
          <p:cNvPr id="20" name="Text 18"/>
          <p:cNvSpPr txBox="1"/>
          <p:nvPr/>
        </p:nvSpPr>
        <p:spPr>
          <a:xfrm>
            <a:off x="6492240" y="1856232"/>
            <a:ext cx="2194560" cy="329184"/>
          </a:xfrm>
          <a:prstGeom prst="rect">
            <a:avLst/>
          </a:prstGeom>
          <a:noFill/>
          <a:ln/>
        </p:spPr>
        <p:txBody>
          <a:bodyPr wrap="square" lIns="0" tIns="0" rIns="0" bIns="0" rtlCol="0" anchor="ctr"/>
          <a:lstStyle/>
          <a:p>
            <a:pPr indent="0" marL="0">
              <a:buNone/>
            </a:pPr>
            <a:r>
              <a:rPr lang="en-US" sz="1450" b="1" dirty="0">
                <a:solidFill>
                  <a:schemeClr val="tx2"/>
                </a:solidFill>
              </a:rPr>
              <a:t>Phân cụm sản phẩm</a:t>
            </a:r>
            <a:endParaRPr lang="en-US" sz="1450" dirty="0"/>
          </a:p>
        </p:txBody>
      </p:sp>
      <p:sp>
        <p:nvSpPr>
          <p:cNvPr id="21" name="Text 19"/>
          <p:cNvSpPr txBox="1"/>
          <p:nvPr/>
        </p:nvSpPr>
        <p:spPr>
          <a:xfrm>
            <a:off x="6492240" y="2194560"/>
            <a:ext cx="2194560" cy="256032"/>
          </a:xfrm>
          <a:prstGeom prst="rect">
            <a:avLst/>
          </a:prstGeom>
          <a:noFill/>
          <a:ln/>
        </p:spPr>
        <p:txBody>
          <a:bodyPr wrap="square" lIns="0" tIns="0" rIns="0" bIns="0" rtlCol="0" anchor="ctr"/>
          <a:lstStyle/>
          <a:p>
            <a:pPr indent="0" marL="0">
              <a:buNone/>
            </a:pPr>
            <a:r>
              <a:rPr lang="en-US" sz="1100" dirty="0">
                <a:solidFill>
                  <a:srgbClr val="6B7280"/>
                </a:solidFill>
              </a:rPr>
              <a:t>Học không giám sát</a:t>
            </a:r>
            <a:endParaRPr lang="en-US" sz="1100" dirty="0"/>
          </a:p>
        </p:txBody>
      </p:sp>
      <p:sp>
        <p:nvSpPr>
          <p:cNvPr id="22" name="Text 20"/>
          <p:cNvSpPr txBox="1"/>
          <p:nvPr/>
        </p:nvSpPr>
        <p:spPr>
          <a:xfrm>
            <a:off x="6492240" y="2487168"/>
            <a:ext cx="2194560" cy="274320"/>
          </a:xfrm>
          <a:prstGeom prst="rect">
            <a:avLst/>
          </a:prstGeom>
          <a:noFill/>
          <a:ln/>
        </p:spPr>
        <p:txBody>
          <a:bodyPr wrap="square" lIns="0" tIns="0" rIns="0" bIns="0" rtlCol="0" anchor="ctr"/>
          <a:lstStyle/>
          <a:p>
            <a:pPr indent="0" marL="0">
              <a:buNone/>
            </a:pPr>
            <a:r>
              <a:rPr lang="en-US" sz="1250" b="1" dirty="0">
                <a:solidFill>
                  <a:srgbClr val="1BAF7A"/>
                </a:solidFill>
              </a:rPr>
              <a:t>K-Means, k = 7</a:t>
            </a:r>
            <a:endParaRPr lang="en-US" sz="1250" dirty="0"/>
          </a:p>
        </p:txBody>
      </p:sp>
      <p:sp>
        <p:nvSpPr>
          <p:cNvPr id="23" name="Text 21"/>
          <p:cNvSpPr txBox="1"/>
          <p:nvPr/>
        </p:nvSpPr>
        <p:spPr>
          <a:xfrm>
            <a:off x="6492240" y="2779776"/>
            <a:ext cx="2194560" cy="502920"/>
          </a:xfrm>
          <a:prstGeom prst="rect">
            <a:avLst/>
          </a:prstGeom>
          <a:noFill/>
          <a:ln/>
        </p:spPr>
        <p:txBody>
          <a:bodyPr wrap="square" lIns="0" tIns="0" rIns="0" bIns="0" rtlCol="0" anchor="ctr"/>
          <a:lstStyle/>
          <a:p>
            <a:pPr indent="0" marL="0">
              <a:buNone/>
            </a:pPr>
            <a:r>
              <a:rPr lang="en-US" sz="1150" dirty="0">
                <a:solidFill>
                  <a:srgbClr val="4B5163"/>
                </a:solidFill>
              </a:rPr>
              <a:t>Silhouette 0,285</a:t>
            </a:r>
            <a:endParaRPr lang="en-US" sz="1150" dirty="0"/>
          </a:p>
        </p:txBody>
      </p:sp>
      <p:sp>
        <p:nvSpPr>
          <p:cNvPr id="24" name="card-9.950000000000001-1.45"/>
          <p:cNvSpPr/>
          <p:nvPr/>
        </p:nvSpPr>
        <p:spPr>
          <a:xfrm>
            <a:off x="9098280" y="1325880"/>
            <a:ext cx="2606040" cy="2103120"/>
          </a:xfrm>
          <a:prstGeom prst="roundRect">
            <a:avLst>
              <a:gd name="adj" fmla="val 4348"/>
            </a:avLst>
          </a:prstGeom>
          <a:solidFill>
            <a:schemeClr val="bg2"/>
          </a:solidFill>
          <a:ln w="12700">
            <a:solidFill>
              <a:srgbClr val="E3E6F0"/>
            </a:solidFill>
            <a:prstDash val="solid"/>
          </a:ln>
        </p:spPr>
      </p:sp>
      <p:sp>
        <p:nvSpPr>
          <p:cNvPr id="25" name="tag3"/>
          <p:cNvSpPr/>
          <p:nvPr/>
        </p:nvSpPr>
        <p:spPr>
          <a:xfrm>
            <a:off x="9326880" y="1536192"/>
            <a:ext cx="868680" cy="237744"/>
          </a:xfrm>
          <a:prstGeom prst="roundRect">
            <a:avLst>
              <a:gd name="adj" fmla="val 50000"/>
            </a:avLst>
          </a:prstGeom>
          <a:solidFill>
            <a:srgbClr val="EB6834"/>
          </a:solidFill>
          <a:ln w="12700">
            <a:solidFill>
              <a:srgbClr val="EB6834"/>
            </a:solidFill>
            <a:prstDash val="solid"/>
          </a:ln>
        </p:spPr>
      </p:sp>
      <p:sp>
        <p:nvSpPr>
          <p:cNvPr id="26" name="Text 24"/>
          <p:cNvSpPr txBox="1"/>
          <p:nvPr/>
        </p:nvSpPr>
        <p:spPr>
          <a:xfrm>
            <a:off x="9326880" y="1545336"/>
            <a:ext cx="868680" cy="219456"/>
          </a:xfrm>
          <a:prstGeom prst="rect">
            <a:avLst/>
          </a:prstGeom>
          <a:noFill/>
          <a:ln/>
        </p:spPr>
        <p:txBody>
          <a:bodyPr wrap="square" lIns="0" tIns="0" rIns="0" bIns="0" rtlCol="0" anchor="ctr"/>
          <a:lstStyle/>
          <a:p>
            <a:pPr algn="ctr" indent="0" marL="0">
              <a:buNone/>
            </a:pPr>
            <a:r>
              <a:rPr lang="en-US" sz="1050" b="1" dirty="0">
                <a:solidFill>
                  <a:srgbClr val="FFFFFF"/>
                </a:solidFill>
              </a:rPr>
              <a:t>#4</a:t>
            </a:r>
            <a:endParaRPr lang="en-US" sz="1050" dirty="0"/>
          </a:p>
        </p:txBody>
      </p:sp>
      <p:sp>
        <p:nvSpPr>
          <p:cNvPr id="27" name="Text 25"/>
          <p:cNvSpPr txBox="1"/>
          <p:nvPr/>
        </p:nvSpPr>
        <p:spPr>
          <a:xfrm>
            <a:off x="9326880" y="1856232"/>
            <a:ext cx="2194560" cy="329184"/>
          </a:xfrm>
          <a:prstGeom prst="rect">
            <a:avLst/>
          </a:prstGeom>
          <a:noFill/>
          <a:ln/>
        </p:spPr>
        <p:txBody>
          <a:bodyPr wrap="square" lIns="0" tIns="0" rIns="0" bIns="0" rtlCol="0" anchor="ctr"/>
          <a:lstStyle/>
          <a:p>
            <a:pPr indent="0" marL="0">
              <a:buNone/>
            </a:pPr>
            <a:r>
              <a:rPr lang="en-US" sz="1450" b="1" dirty="0">
                <a:solidFill>
                  <a:schemeClr val="tx2"/>
                </a:solidFill>
              </a:rPr>
              <a:t>Phát hiện bất thường</a:t>
            </a:r>
            <a:endParaRPr lang="en-US" sz="1450" dirty="0"/>
          </a:p>
        </p:txBody>
      </p:sp>
      <p:sp>
        <p:nvSpPr>
          <p:cNvPr id="28" name="Text 26"/>
          <p:cNvSpPr txBox="1"/>
          <p:nvPr/>
        </p:nvSpPr>
        <p:spPr>
          <a:xfrm>
            <a:off x="9326880" y="2194560"/>
            <a:ext cx="2194560" cy="256032"/>
          </a:xfrm>
          <a:prstGeom prst="rect">
            <a:avLst/>
          </a:prstGeom>
          <a:noFill/>
          <a:ln/>
        </p:spPr>
        <p:txBody>
          <a:bodyPr wrap="square" lIns="0" tIns="0" rIns="0" bIns="0" rtlCol="0" anchor="ctr"/>
          <a:lstStyle/>
          <a:p>
            <a:pPr indent="0" marL="0">
              <a:buNone/>
            </a:pPr>
            <a:r>
              <a:rPr lang="en-US" sz="1100" dirty="0">
                <a:solidFill>
                  <a:srgbClr val="6B7280"/>
                </a:solidFill>
              </a:rPr>
              <a:t>Học không giám sát</a:t>
            </a:r>
            <a:endParaRPr lang="en-US" sz="1100" dirty="0"/>
          </a:p>
        </p:txBody>
      </p:sp>
      <p:sp>
        <p:nvSpPr>
          <p:cNvPr id="29" name="Text 27"/>
          <p:cNvSpPr txBox="1"/>
          <p:nvPr/>
        </p:nvSpPr>
        <p:spPr>
          <a:xfrm>
            <a:off x="9326880" y="2487168"/>
            <a:ext cx="2194560" cy="274320"/>
          </a:xfrm>
          <a:prstGeom prst="rect">
            <a:avLst/>
          </a:prstGeom>
          <a:noFill/>
          <a:ln/>
        </p:spPr>
        <p:txBody>
          <a:bodyPr wrap="square" lIns="0" tIns="0" rIns="0" bIns="0" rtlCol="0" anchor="ctr"/>
          <a:lstStyle/>
          <a:p>
            <a:pPr indent="0" marL="0">
              <a:buNone/>
            </a:pPr>
            <a:r>
              <a:rPr lang="en-US" sz="1250" b="1" dirty="0">
                <a:solidFill>
                  <a:srgbClr val="EB6834"/>
                </a:solidFill>
              </a:rPr>
              <a:t>Isolation Forest</a:t>
            </a:r>
            <a:endParaRPr lang="en-US" sz="1250" dirty="0"/>
          </a:p>
        </p:txBody>
      </p:sp>
      <p:sp>
        <p:nvSpPr>
          <p:cNvPr id="30" name="Text 28"/>
          <p:cNvSpPr txBox="1"/>
          <p:nvPr/>
        </p:nvSpPr>
        <p:spPr>
          <a:xfrm>
            <a:off x="9326880" y="2779776"/>
            <a:ext cx="2194560" cy="502920"/>
          </a:xfrm>
          <a:prstGeom prst="rect">
            <a:avLst/>
          </a:prstGeom>
          <a:noFill/>
          <a:ln/>
        </p:spPr>
        <p:txBody>
          <a:bodyPr wrap="square" lIns="0" tIns="0" rIns="0" bIns="0" rtlCol="0" anchor="ctr"/>
          <a:lstStyle/>
          <a:p>
            <a:pPr indent="0" marL="0">
              <a:buNone/>
            </a:pPr>
            <a:r>
              <a:rPr lang="en-US" sz="1150" dirty="0">
                <a:solidFill>
                  <a:srgbClr val="4B5163"/>
                </a:solidFill>
              </a:rPr>
              <a:t>283 / 5.657 sản phẩm</a:t>
            </a:r>
            <a:endParaRPr lang="en-US" sz="1150" dirty="0"/>
          </a:p>
        </p:txBody>
      </p:sp>
      <p:graphicFrame>
        <p:nvGraphicFramePr>
          <p:cNvPr id="31" name="Chart 0" descr=""/>
          <p:cNvGraphicFramePr/>
          <p:nvPr/>
        </p:nvGraphicFramePr>
        <p:xfrm>
          <a:off x="594360" y="3611880"/>
          <a:ext cx="5577840" cy="1920240"/>
        </p:xfrm>
        <a:graphic xmlns:a="http://schemas.openxmlformats.org/drawingml/2006/main">
          <a:graphicData uri="http://schemas.openxmlformats.org/drawingml/2006/chart">
            <c:chart xmlns:c="http://schemas.openxmlformats.org/drawingml/2006/chart" r:id="rId1"/>
          </a:graphicData>
        </a:graphic>
      </p:graphicFrame>
      <p:sp>
        <p:nvSpPr>
          <p:cNvPr id="32" name="card-6.9-3.95"/>
          <p:cNvSpPr/>
          <p:nvPr/>
        </p:nvSpPr>
        <p:spPr>
          <a:xfrm>
            <a:off x="6309360" y="3611880"/>
            <a:ext cx="5257800" cy="1920240"/>
          </a:xfrm>
          <a:prstGeom prst="roundRect">
            <a:avLst>
              <a:gd name="adj" fmla="val 4762"/>
            </a:avLst>
          </a:prstGeom>
          <a:solidFill>
            <a:srgbClr val="F4F5FA"/>
          </a:solidFill>
          <a:ln w="12700">
            <a:solidFill>
              <a:srgbClr val="E3E6F0"/>
            </a:solidFill>
            <a:prstDash val="solid"/>
          </a:ln>
        </p:spPr>
      </p:sp>
      <p:sp>
        <p:nvSpPr>
          <p:cNvPr id="33" name="Text 30"/>
          <p:cNvSpPr txBox="1"/>
          <p:nvPr/>
        </p:nvSpPr>
        <p:spPr>
          <a:xfrm>
            <a:off x="6583680" y="3767328"/>
            <a:ext cx="4754880" cy="274320"/>
          </a:xfrm>
          <a:prstGeom prst="rect">
            <a:avLst/>
          </a:prstGeom>
          <a:noFill/>
          <a:ln/>
        </p:spPr>
        <p:txBody>
          <a:bodyPr wrap="square" lIns="0" tIns="0" rIns="0" bIns="0" rtlCol="0" anchor="ctr"/>
          <a:lstStyle/>
          <a:p>
            <a:pPr indent="0" marL="0">
              <a:buNone/>
            </a:pPr>
            <a:r>
              <a:rPr lang="en-US" sz="1400" b="1" dirty="0">
                <a:solidFill>
                  <a:srgbClr val="1E2142"/>
                </a:solidFill>
              </a:rPr>
              <a:t>Cách làm bảo đảm trung thực</a:t>
            </a:r>
            <a:endParaRPr lang="en-US" sz="1400" dirty="0"/>
          </a:p>
        </p:txBody>
      </p:sp>
      <p:sp>
        <p:nvSpPr>
          <p:cNvPr id="34" name="Text 31"/>
          <p:cNvSpPr txBox="1"/>
          <p:nvPr/>
        </p:nvSpPr>
        <p:spPr>
          <a:xfrm>
            <a:off x="6583680" y="4069080"/>
            <a:ext cx="4754880" cy="137160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chemeClr val="tx1"/>
                </a:solidFill>
              </a:rPr>
              <a:t>Chia 60/20/20 — chọn mô hình trên validation, chỉ báo cáo test một lần</a:t>
            </a:r>
            <a:endParaRPr lang="en-US" sz="1450" dirty="0"/>
          </a:p>
          <a:p>
            <a:pPr marL="342900" indent="-342900">
              <a:spcAft>
                <a:spcPts val="800"/>
              </a:spcAft>
              <a:buSzPct val="100000"/>
              <a:buChar char="•"/>
            </a:pPr>
            <a:r>
              <a:rPr lang="en-US" sz="1450" dirty="0">
                <a:solidFill>
                  <a:schemeClr val="tx1"/>
                </a:solidFill>
              </a:rPr>
              <a:t>Ngưỡng phân khúc tính trên tập train để tránh rò rỉ</a:t>
            </a:r>
            <a:endParaRPr lang="en-US" sz="1450" dirty="0"/>
          </a:p>
          <a:p>
            <a:pPr marL="342900" indent="-342900">
              <a:spcAft>
                <a:spcPts val="800"/>
              </a:spcAft>
              <a:buSzPct val="100000"/>
              <a:buChar char="•"/>
            </a:pPr>
            <a:r>
              <a:rPr lang="en-US" sz="1450" dirty="0">
                <a:solidFill>
                  <a:schemeClr val="tx1"/>
                </a:solidFill>
              </a:rPr>
              <a:t>Không dùng giá niêm yết và % giảm làm đặc trưng</a:t>
            </a:r>
            <a:endParaRPr lang="en-US" sz="1450" dirty="0"/>
          </a:p>
          <a:p>
            <a:pPr marL="342900" indent="-342900">
              <a:spcAft>
                <a:spcPts val="800"/>
              </a:spcAft>
              <a:buSzPct val="100000"/>
              <a:buChar char="•"/>
            </a:pPr>
            <a:r>
              <a:rPr lang="en-US" sz="1450" dirty="0">
                <a:solidFill>
                  <a:schemeClr val="tx1"/>
                </a:solidFill>
              </a:rPr>
              <a:t>Mỗi bài toán có mô hình Dummy làm mốc so sánh</a:t>
            </a:r>
            <a:endParaRPr lang="en-US" sz="1450" dirty="0"/>
          </a:p>
        </p:txBody>
      </p:sp>
      <p:sp>
        <p:nvSpPr>
          <p:cNvPr id="36" name="Text 0"/>
          <p:cNvSpPr/>
          <p:nvPr>
            <p:ph idx="101" type="body" hasCustomPrompt="1"/>
          </p:nvPr>
        </p:nvSpPr>
        <p:spPr>
          <a:xfrm>
            <a:off x="594360" y="1234440"/>
            <a:ext cx="10972800" cy="4937760"/>
          </a:xfrm>
          <a:prstGeom prst="rect">
            <a:avLst/>
          </a:prstGeom>
          <a:noFill/>
          <a:ln/>
        </p:spPr>
        <p:txBody>
          <a:bodyPr wrap="square" rtlCol="0"/>
          <a:lstStyle/>
          <a:p>
            <a:pPr algn="l" indent="0" marL="0">
              <a:buNone/>
            </a:pPr>
            <a:endParaRPr lang="en-US" sz="1500" dirty="0"/>
          </a:p>
        </p:txBody>
      </p:sp>
      <p:sp>
        <p:nvSpPr>
          <p:cNvPr id="37" name="Text 1"/>
          <p:cNvSpPr/>
          <p:nvPr>
            <p:ph idx="103" hasCustomPrompt="1"/>
          </p:nvPr>
        </p:nvSpPr>
        <p:spPr>
          <a:xfrm>
            <a:off x="11247120" y="6355080"/>
            <a:ext cx="45720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731520"/>
          </a:xfrm>
          <a:prstGeom prst="rect">
            <a:avLst/>
          </a:prstGeom>
          <a:noFill/>
          <a:ln/>
        </p:spPr>
        <p:txBody>
          <a:bodyPr wrap="square" rtlCol="0"/>
          <a:lstStyle/>
          <a:p>
            <a:pPr algn="l" indent="0" marL="0">
              <a:buNone/>
            </a:pPr>
            <a:r>
              <a:rPr lang="en-US" sz="3000" b="1" dirty="0">
                <a:solidFill>
                  <a:schemeClr val="tx2"/>
                </a:solidFill>
              </a:rPr>
              <a:t>Mô hình nói gì về thị trường</a:t>
            </a:r>
            <a:endParaRPr lang="en-US" sz="3000" dirty="0"/>
          </a:p>
        </p:txBody>
      </p:sp>
      <p:graphicFrame>
        <p:nvGraphicFramePr>
          <p:cNvPr id="3" name="Chart 0" descr=""/>
          <p:cNvGraphicFramePr/>
          <p:nvPr/>
        </p:nvGraphicFramePr>
        <p:xfrm>
          <a:off x="594360" y="1325880"/>
          <a:ext cx="5577840" cy="2834640"/>
        </p:xfrm>
        <a:graphic xmlns:a="http://schemas.openxmlformats.org/drawingml/2006/main">
          <a:graphicData uri="http://schemas.openxmlformats.org/drawingml/2006/chart">
            <c:chart xmlns:c="http://schemas.openxmlformats.org/drawingml/2006/chart" r:id="rId1"/>
          </a:graphicData>
        </a:graphic>
      </p:graphicFrame>
      <p:sp>
        <p:nvSpPr>
          <p:cNvPr id="4" name="n1"/>
          <p:cNvSpPr/>
          <p:nvPr/>
        </p:nvSpPr>
        <p:spPr>
          <a:xfrm>
            <a:off x="6400800" y="1554480"/>
            <a:ext cx="384048" cy="384048"/>
          </a:xfrm>
          <a:prstGeom prst="ellipse">
            <a:avLst/>
          </a:prstGeom>
          <a:solidFill>
            <a:srgbClr val="4F46E5"/>
          </a:solidFill>
          <a:ln w="12700">
            <a:solidFill>
              <a:srgbClr val="4F46E5"/>
            </a:solidFill>
            <a:prstDash val="solid"/>
          </a:ln>
        </p:spPr>
      </p:sp>
      <p:sp>
        <p:nvSpPr>
          <p:cNvPr id="5" name="Text 2"/>
          <p:cNvSpPr txBox="1"/>
          <p:nvPr/>
        </p:nvSpPr>
        <p:spPr>
          <a:xfrm>
            <a:off x="6400800" y="158191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6" name="Text 3"/>
          <p:cNvSpPr txBox="1"/>
          <p:nvPr/>
        </p:nvSpPr>
        <p:spPr>
          <a:xfrm>
            <a:off x="6967728" y="1536192"/>
            <a:ext cx="4599432" cy="274320"/>
          </a:xfrm>
          <a:prstGeom prst="rect">
            <a:avLst/>
          </a:prstGeom>
          <a:noFill/>
          <a:ln/>
        </p:spPr>
        <p:txBody>
          <a:bodyPr wrap="square" lIns="0" tIns="0" rIns="0" bIns="0" rtlCol="0" anchor="ctr"/>
          <a:lstStyle/>
          <a:p>
            <a:pPr indent="0" marL="0">
              <a:buNone/>
            </a:pPr>
            <a:r>
              <a:rPr lang="en-US" sz="1450" b="1" dirty="0">
                <a:solidFill>
                  <a:schemeClr val="tx2"/>
                </a:solidFill>
              </a:rPr>
              <a:t>Thương hiệu quyết định giá</a:t>
            </a:r>
            <a:endParaRPr lang="en-US" sz="1450" dirty="0"/>
          </a:p>
        </p:txBody>
      </p:sp>
      <p:sp>
        <p:nvSpPr>
          <p:cNvPr id="7" name="Text 4"/>
          <p:cNvSpPr txBox="1"/>
          <p:nvPr/>
        </p:nvSpPr>
        <p:spPr>
          <a:xfrm>
            <a:off x="6967728" y="1801368"/>
            <a:ext cx="4599432" cy="475488"/>
          </a:xfrm>
          <a:prstGeom prst="rect">
            <a:avLst/>
          </a:prstGeom>
          <a:noFill/>
          <a:ln/>
        </p:spPr>
        <p:txBody>
          <a:bodyPr wrap="square" lIns="0" tIns="0" rIns="0" bIns="0" rtlCol="0" anchor="ctr"/>
          <a:lstStyle/>
          <a:p>
            <a:pPr indent="0" marL="0">
              <a:buNone/>
            </a:pPr>
            <a:r>
              <a:rPr lang="en-US" sz="1200" dirty="0">
                <a:solidFill>
                  <a:srgbClr val="4B5163"/>
                </a:solidFill>
              </a:rPr>
              <a:t>Chiếm 38% độ quan trọng — người mua trả tiền cho thương hiệu nhiều hơn cho quy cách</a:t>
            </a:r>
            <a:endParaRPr lang="en-US" sz="1200" dirty="0"/>
          </a:p>
        </p:txBody>
      </p:sp>
      <p:sp>
        <p:nvSpPr>
          <p:cNvPr id="8" name="n2"/>
          <p:cNvSpPr/>
          <p:nvPr/>
        </p:nvSpPr>
        <p:spPr>
          <a:xfrm>
            <a:off x="6400800" y="2514600"/>
            <a:ext cx="384048" cy="384048"/>
          </a:xfrm>
          <a:prstGeom prst="ellipse">
            <a:avLst/>
          </a:prstGeom>
          <a:solidFill>
            <a:srgbClr val="EB6834"/>
          </a:solidFill>
          <a:ln w="12700">
            <a:solidFill>
              <a:srgbClr val="EB6834"/>
            </a:solidFill>
            <a:prstDash val="solid"/>
          </a:ln>
        </p:spPr>
      </p:sp>
      <p:sp>
        <p:nvSpPr>
          <p:cNvPr id="9" name="Text 6"/>
          <p:cNvSpPr txBox="1"/>
          <p:nvPr/>
        </p:nvSpPr>
        <p:spPr>
          <a:xfrm>
            <a:off x="6400800" y="254203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0" name="Text 7"/>
          <p:cNvSpPr txBox="1"/>
          <p:nvPr/>
        </p:nvSpPr>
        <p:spPr>
          <a:xfrm>
            <a:off x="6967728" y="2496312"/>
            <a:ext cx="4599432" cy="274320"/>
          </a:xfrm>
          <a:prstGeom prst="rect">
            <a:avLst/>
          </a:prstGeom>
          <a:noFill/>
          <a:ln/>
        </p:spPr>
        <p:txBody>
          <a:bodyPr wrap="square" lIns="0" tIns="0" rIns="0" bIns="0" rtlCol="0" anchor="ctr"/>
          <a:lstStyle/>
          <a:p>
            <a:pPr indent="0" marL="0">
              <a:buNone/>
            </a:pPr>
            <a:r>
              <a:rPr lang="en-US" sz="1450" b="1" dirty="0">
                <a:solidFill>
                  <a:schemeClr val="tx2"/>
                </a:solidFill>
              </a:rPr>
              <a:t>Rating gần như vô dụng</a:t>
            </a:r>
            <a:endParaRPr lang="en-US" sz="1450" dirty="0"/>
          </a:p>
        </p:txBody>
      </p:sp>
      <p:sp>
        <p:nvSpPr>
          <p:cNvPr id="11" name="Text 8"/>
          <p:cNvSpPr txBox="1"/>
          <p:nvPr/>
        </p:nvSpPr>
        <p:spPr>
          <a:xfrm>
            <a:off x="6967728" y="2761488"/>
            <a:ext cx="4599432" cy="475488"/>
          </a:xfrm>
          <a:prstGeom prst="rect">
            <a:avLst/>
          </a:prstGeom>
          <a:noFill/>
          <a:ln/>
        </p:spPr>
        <p:txBody>
          <a:bodyPr wrap="square" lIns="0" tIns="0" rIns="0" bIns="0" rtlCol="0" anchor="ctr"/>
          <a:lstStyle/>
          <a:p>
            <a:pPr indent="0" marL="0">
              <a:buNone/>
            </a:pPr>
            <a:r>
              <a:rPr lang="en-US" sz="1200" dirty="0">
                <a:solidFill>
                  <a:srgbClr val="4B5163"/>
                </a:solidFill>
              </a:rPr>
              <a:t>Dưới 3% độ quan trọng, vì 89,9% đánh giá là 5 sao nên không phân biệt được chất lượng</a:t>
            </a:r>
            <a:endParaRPr lang="en-US" sz="1200" dirty="0"/>
          </a:p>
        </p:txBody>
      </p:sp>
      <p:sp>
        <p:nvSpPr>
          <p:cNvPr id="12" name="n3"/>
          <p:cNvSpPr/>
          <p:nvPr/>
        </p:nvSpPr>
        <p:spPr>
          <a:xfrm>
            <a:off x="6400800" y="3474720"/>
            <a:ext cx="384048" cy="384048"/>
          </a:xfrm>
          <a:prstGeom prst="ellipse">
            <a:avLst/>
          </a:prstGeom>
          <a:solidFill>
            <a:srgbClr val="2A78D6"/>
          </a:solidFill>
          <a:ln w="12700">
            <a:solidFill>
              <a:srgbClr val="2A78D6"/>
            </a:solidFill>
            <a:prstDash val="solid"/>
          </a:ln>
        </p:spPr>
      </p:sp>
      <p:sp>
        <p:nvSpPr>
          <p:cNvPr id="13" name="Text 10"/>
          <p:cNvSpPr txBox="1"/>
          <p:nvPr/>
        </p:nvSpPr>
        <p:spPr>
          <a:xfrm>
            <a:off x="6400800" y="350215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4" name="Text 11"/>
          <p:cNvSpPr txBox="1"/>
          <p:nvPr/>
        </p:nvSpPr>
        <p:spPr>
          <a:xfrm>
            <a:off x="6967728" y="3456432"/>
            <a:ext cx="4599432" cy="274320"/>
          </a:xfrm>
          <a:prstGeom prst="rect">
            <a:avLst/>
          </a:prstGeom>
          <a:noFill/>
          <a:ln/>
        </p:spPr>
        <p:txBody>
          <a:bodyPr wrap="square" lIns="0" tIns="0" rIns="0" bIns="0" rtlCol="0" anchor="ctr"/>
          <a:lstStyle/>
          <a:p>
            <a:pPr indent="0" marL="0">
              <a:buNone/>
            </a:pPr>
            <a:r>
              <a:rPr lang="en-US" sz="1450" b="1" dirty="0">
                <a:solidFill>
                  <a:schemeClr val="tx2"/>
                </a:solidFill>
              </a:rPr>
              <a:t>Hàng rẻ khó dự đoán</a:t>
            </a:r>
            <a:endParaRPr lang="en-US" sz="1450" dirty="0"/>
          </a:p>
        </p:txBody>
      </p:sp>
      <p:sp>
        <p:nvSpPr>
          <p:cNvPr id="15" name="Text 12"/>
          <p:cNvSpPr txBox="1"/>
          <p:nvPr/>
        </p:nvSpPr>
        <p:spPr>
          <a:xfrm>
            <a:off x="6967728" y="3721608"/>
            <a:ext cx="4599432" cy="475488"/>
          </a:xfrm>
          <a:prstGeom prst="rect">
            <a:avLst/>
          </a:prstGeom>
          <a:noFill/>
          <a:ln/>
        </p:spPr>
        <p:txBody>
          <a:bodyPr wrap="square" lIns="0" tIns="0" rIns="0" bIns="0" rtlCol="0" anchor="ctr"/>
          <a:lstStyle/>
          <a:p>
            <a:pPr indent="0" marL="0">
              <a:buNone/>
            </a:pPr>
            <a:r>
              <a:rPr lang="en-US" sz="1200" dirty="0">
                <a:solidFill>
                  <a:srgbClr val="4B5163"/>
                </a:solidFill>
              </a:rPr>
              <a:t>Sai số 55,8% ở nhóm giá thấp, nhưng chỉ 23–27% ở nhóm trung bình và cao</a:t>
            </a:r>
            <a:endParaRPr lang="en-US" sz="1200" dirty="0"/>
          </a:p>
        </p:txBody>
      </p:sp>
      <p:sp>
        <p:nvSpPr>
          <p:cNvPr id="16" name="card-0.65-4.75"/>
          <p:cNvSpPr/>
          <p:nvPr/>
        </p:nvSpPr>
        <p:spPr>
          <a:xfrm>
            <a:off x="594360" y="4343400"/>
            <a:ext cx="10972800" cy="1188720"/>
          </a:xfrm>
          <a:prstGeom prst="roundRect">
            <a:avLst>
              <a:gd name="adj" fmla="val 7692"/>
            </a:avLst>
          </a:prstGeom>
          <a:solidFill>
            <a:srgbClr val="FFF7E8"/>
          </a:solidFill>
          <a:ln w="12700">
            <a:solidFill>
              <a:srgbClr val="F3DFB5"/>
            </a:solidFill>
            <a:prstDash val="solid"/>
          </a:ln>
        </p:spPr>
      </p:sp>
      <p:sp>
        <p:nvSpPr>
          <p:cNvPr id="17" name="Text 14"/>
          <p:cNvSpPr txBox="1"/>
          <p:nvPr/>
        </p:nvSpPr>
        <p:spPr>
          <a:xfrm>
            <a:off x="868680" y="4526280"/>
            <a:ext cx="10424160" cy="868680"/>
          </a:xfrm>
          <a:prstGeom prst="rect">
            <a:avLst/>
          </a:prstGeom>
          <a:noFill/>
          <a:ln/>
        </p:spPr>
        <p:txBody>
          <a:bodyPr wrap="square" lIns="0" tIns="0" rIns="0" bIns="0" rtlCol="0" anchor="ctr"/>
          <a:lstStyle/>
          <a:p>
            <a:pPr indent="0" marL="0">
              <a:buNone/>
            </a:pPr>
            <a:r>
              <a:rPr lang="en-US" sz="1300" dirty="0">
                <a:solidFill>
                  <a:srgbClr val="7A5200"/>
                </a:solidFill>
              </a:rPr>
              <a:t>Giới hạn cần nói rõ:  R² ≈ 0,54 nghĩa là mô hình giải thích được khoảng một nửa biến động giá. Phần còn lại đến từ thành phần, xuất xứ và kênh phân phối — những thông tin không có trong dữ liệu thu thập được.</a:t>
            </a:r>
            <a:endParaRPr lang="en-US" sz="1300" dirty="0"/>
          </a:p>
        </p:txBody>
      </p:sp>
      <p:sp>
        <p:nvSpPr>
          <p:cNvPr id="19" name="Text 0"/>
          <p:cNvSpPr/>
          <p:nvPr>
            <p:ph idx="101" type="body" hasCustomPrompt="1"/>
          </p:nvPr>
        </p:nvSpPr>
        <p:spPr>
          <a:xfrm>
            <a:off x="594360" y="1234440"/>
            <a:ext cx="10972800" cy="4937760"/>
          </a:xfrm>
          <a:prstGeom prst="rect">
            <a:avLst/>
          </a:prstGeom>
          <a:noFill/>
          <a:ln/>
        </p:spPr>
        <p:txBody>
          <a:bodyPr wrap="square" rtlCol="0"/>
          <a:lstStyle/>
          <a:p>
            <a:pPr algn="l" indent="0" marL="0">
              <a:buNone/>
            </a:pPr>
            <a:endParaRPr lang="en-US" sz="1500" dirty="0"/>
          </a:p>
        </p:txBody>
      </p:sp>
      <p:sp>
        <p:nvSpPr>
          <p:cNvPr id="20" name="Text 1"/>
          <p:cNvSpPr/>
          <p:nvPr>
            <p:ph idx="103" hasCustomPrompt="1"/>
          </p:nvPr>
        </p:nvSpPr>
        <p:spPr>
          <a:xfrm>
            <a:off x="11247120" y="6355080"/>
            <a:ext cx="45720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731520"/>
          </a:xfrm>
          <a:prstGeom prst="rect">
            <a:avLst/>
          </a:prstGeom>
          <a:noFill/>
          <a:ln/>
        </p:spPr>
        <p:txBody>
          <a:bodyPr wrap="square" rtlCol="0"/>
          <a:lstStyle/>
          <a:p>
            <a:pPr algn="l" indent="0" marL="0">
              <a:buNone/>
            </a:pPr>
            <a:r>
              <a:rPr lang="en-US" sz="3000" b="1" dirty="0">
                <a:solidFill>
                  <a:schemeClr val="tx2"/>
                </a:solidFill>
              </a:rPr>
              <a:t>Website tích hợp toàn bộ chức năng</a:t>
            </a:r>
            <a:endParaRPr lang="en-US" sz="3000" dirty="0"/>
          </a:p>
        </p:txBody>
      </p:sp>
      <p:sp>
        <p:nvSpPr>
          <p:cNvPr id="3" name="card-0.65-1.45"/>
          <p:cNvSpPr/>
          <p:nvPr/>
        </p:nvSpPr>
        <p:spPr>
          <a:xfrm>
            <a:off x="594360" y="1325880"/>
            <a:ext cx="2606040" cy="1051560"/>
          </a:xfrm>
          <a:prstGeom prst="roundRect">
            <a:avLst>
              <a:gd name="adj" fmla="val 8696"/>
            </a:avLst>
          </a:prstGeom>
          <a:solidFill>
            <a:schemeClr val="bg2"/>
          </a:solidFill>
          <a:ln w="12700">
            <a:solidFill>
              <a:srgbClr val="E3E6F0"/>
            </a:solidFill>
            <a:prstDash val="solid"/>
          </a:ln>
        </p:spPr>
      </p:sp>
      <p:sp>
        <p:nvSpPr>
          <p:cNvPr id="4" name="Text 2"/>
          <p:cNvSpPr txBox="1"/>
          <p:nvPr/>
        </p:nvSpPr>
        <p:spPr>
          <a:xfrm>
            <a:off x="795528" y="1481328"/>
            <a:ext cx="2240280" cy="274320"/>
          </a:xfrm>
          <a:prstGeom prst="rect">
            <a:avLst/>
          </a:prstGeom>
          <a:noFill/>
          <a:ln/>
        </p:spPr>
        <p:txBody>
          <a:bodyPr wrap="square" lIns="0" tIns="0" rIns="0" bIns="0" rtlCol="0" anchor="ctr"/>
          <a:lstStyle/>
          <a:p>
            <a:pPr indent="0" marL="0">
              <a:buNone/>
            </a:pPr>
            <a:r>
              <a:rPr lang="en-US" sz="1350" b="1" dirty="0">
                <a:solidFill>
                  <a:schemeClr val="tx2"/>
                </a:solidFill>
              </a:rPr>
              <a:t>Tổng quan</a:t>
            </a:r>
            <a:endParaRPr lang="en-US" sz="1350" dirty="0"/>
          </a:p>
        </p:txBody>
      </p:sp>
      <p:sp>
        <p:nvSpPr>
          <p:cNvPr id="5" name="Text 3"/>
          <p:cNvSpPr txBox="1"/>
          <p:nvPr/>
        </p:nvSpPr>
        <p:spPr>
          <a:xfrm>
            <a:off x="795528" y="1783080"/>
            <a:ext cx="2240280" cy="502920"/>
          </a:xfrm>
          <a:prstGeom prst="rect">
            <a:avLst/>
          </a:prstGeom>
          <a:noFill/>
          <a:ln/>
        </p:spPr>
        <p:txBody>
          <a:bodyPr wrap="square" lIns="0" tIns="0" rIns="0" bIns="0" rtlCol="0" anchor="ctr"/>
          <a:lstStyle/>
          <a:p>
            <a:pPr indent="0" marL="0">
              <a:buNone/>
            </a:pPr>
            <a:r>
              <a:rPr lang="en-US" sz="1100" dirty="0">
                <a:solidFill>
                  <a:srgbClr val="4B5163"/>
                </a:solidFill>
              </a:rPr>
              <a:t>KPI, bộ lọc, 6 biểu đồ, nhận định tự động</a:t>
            </a:r>
            <a:endParaRPr lang="en-US" sz="1100" dirty="0"/>
          </a:p>
        </p:txBody>
      </p:sp>
      <p:sp>
        <p:nvSpPr>
          <p:cNvPr id="6" name="card-3.75-1.45"/>
          <p:cNvSpPr/>
          <p:nvPr/>
        </p:nvSpPr>
        <p:spPr>
          <a:xfrm>
            <a:off x="3429000" y="1325880"/>
            <a:ext cx="2606040" cy="1051560"/>
          </a:xfrm>
          <a:prstGeom prst="roundRect">
            <a:avLst>
              <a:gd name="adj" fmla="val 8696"/>
            </a:avLst>
          </a:prstGeom>
          <a:solidFill>
            <a:schemeClr val="bg2"/>
          </a:solidFill>
          <a:ln w="12700">
            <a:solidFill>
              <a:srgbClr val="E3E6F0"/>
            </a:solidFill>
            <a:prstDash val="solid"/>
          </a:ln>
        </p:spPr>
      </p:sp>
      <p:sp>
        <p:nvSpPr>
          <p:cNvPr id="7" name="Text 5"/>
          <p:cNvSpPr txBox="1"/>
          <p:nvPr/>
        </p:nvSpPr>
        <p:spPr>
          <a:xfrm>
            <a:off x="3630168" y="1481328"/>
            <a:ext cx="2240280" cy="274320"/>
          </a:xfrm>
          <a:prstGeom prst="rect">
            <a:avLst/>
          </a:prstGeom>
          <a:noFill/>
          <a:ln/>
        </p:spPr>
        <p:txBody>
          <a:bodyPr wrap="square" lIns="0" tIns="0" rIns="0" bIns="0" rtlCol="0" anchor="ctr"/>
          <a:lstStyle/>
          <a:p>
            <a:pPr indent="0" marL="0">
              <a:buNone/>
            </a:pPr>
            <a:r>
              <a:rPr lang="en-US" sz="1350" b="1" dirty="0">
                <a:solidFill>
                  <a:schemeClr val="tx2"/>
                </a:solidFill>
              </a:rPr>
              <a:t>Tra cứu dữ liệu</a:t>
            </a:r>
            <a:endParaRPr lang="en-US" sz="1350" dirty="0"/>
          </a:p>
        </p:txBody>
      </p:sp>
      <p:sp>
        <p:nvSpPr>
          <p:cNvPr id="8" name="Text 6"/>
          <p:cNvSpPr txBox="1"/>
          <p:nvPr/>
        </p:nvSpPr>
        <p:spPr>
          <a:xfrm>
            <a:off x="3630168" y="1783080"/>
            <a:ext cx="2240280" cy="502920"/>
          </a:xfrm>
          <a:prstGeom prst="rect">
            <a:avLst/>
          </a:prstGeom>
          <a:noFill/>
          <a:ln/>
        </p:spPr>
        <p:txBody>
          <a:bodyPr wrap="square" lIns="0" tIns="0" rIns="0" bIns="0" rtlCol="0" anchor="ctr"/>
          <a:lstStyle/>
          <a:p>
            <a:pPr indent="0" marL="0">
              <a:buNone/>
            </a:pPr>
            <a:r>
              <a:rPr lang="en-US" sz="1100" dirty="0">
                <a:solidFill>
                  <a:srgbClr val="4B5163"/>
                </a:solidFill>
              </a:rPr>
              <a:t>Tìm không dấu, 5 bộ lọc, CRUD, lịch sử giá</a:t>
            </a:r>
            <a:endParaRPr lang="en-US" sz="1100" dirty="0"/>
          </a:p>
        </p:txBody>
      </p:sp>
      <p:sp>
        <p:nvSpPr>
          <p:cNvPr id="9" name="card-6.8500000000000005-1.45"/>
          <p:cNvSpPr/>
          <p:nvPr/>
        </p:nvSpPr>
        <p:spPr>
          <a:xfrm>
            <a:off x="6263640" y="1325880"/>
            <a:ext cx="2606040" cy="1051560"/>
          </a:xfrm>
          <a:prstGeom prst="roundRect">
            <a:avLst>
              <a:gd name="adj" fmla="val 8696"/>
            </a:avLst>
          </a:prstGeom>
          <a:solidFill>
            <a:schemeClr val="bg2"/>
          </a:solidFill>
          <a:ln w="12700">
            <a:solidFill>
              <a:srgbClr val="E3E6F0"/>
            </a:solidFill>
            <a:prstDash val="solid"/>
          </a:ln>
        </p:spPr>
      </p:sp>
      <p:sp>
        <p:nvSpPr>
          <p:cNvPr id="10" name="Text 8"/>
          <p:cNvSpPr txBox="1"/>
          <p:nvPr/>
        </p:nvSpPr>
        <p:spPr>
          <a:xfrm>
            <a:off x="6464808" y="1481328"/>
            <a:ext cx="2240280" cy="274320"/>
          </a:xfrm>
          <a:prstGeom prst="rect">
            <a:avLst/>
          </a:prstGeom>
          <a:noFill/>
          <a:ln/>
        </p:spPr>
        <p:txBody>
          <a:bodyPr wrap="square" lIns="0" tIns="0" rIns="0" bIns="0" rtlCol="0" anchor="ctr"/>
          <a:lstStyle/>
          <a:p>
            <a:pPr indent="0" marL="0">
              <a:buNone/>
            </a:pPr>
            <a:r>
              <a:rPr lang="en-US" sz="1350" b="1" dirty="0">
                <a:solidFill>
                  <a:schemeClr val="tx2"/>
                </a:solidFill>
              </a:rPr>
              <a:t>Phân khúc K-Means</a:t>
            </a:r>
            <a:endParaRPr lang="en-US" sz="1350" dirty="0"/>
          </a:p>
        </p:txBody>
      </p:sp>
      <p:sp>
        <p:nvSpPr>
          <p:cNvPr id="11" name="Text 9"/>
          <p:cNvSpPr txBox="1"/>
          <p:nvPr/>
        </p:nvSpPr>
        <p:spPr>
          <a:xfrm>
            <a:off x="6464808" y="1783080"/>
            <a:ext cx="2240280" cy="502920"/>
          </a:xfrm>
          <a:prstGeom prst="rect">
            <a:avLst/>
          </a:prstGeom>
          <a:noFill/>
          <a:ln/>
        </p:spPr>
        <p:txBody>
          <a:bodyPr wrap="square" lIns="0" tIns="0" rIns="0" bIns="0" rtlCol="0" anchor="ctr"/>
          <a:lstStyle/>
          <a:p>
            <a:pPr indent="0" marL="0">
              <a:buNone/>
            </a:pPr>
            <a:r>
              <a:rPr lang="en-US" sz="1100" dirty="0">
                <a:solidFill>
                  <a:srgbClr val="4B5163"/>
                </a:solidFill>
              </a:rPr>
              <a:t>Chọn k theo silhouette, đặc điểm từng cụm</a:t>
            </a:r>
            <a:endParaRPr lang="en-US" sz="1100" dirty="0"/>
          </a:p>
        </p:txBody>
      </p:sp>
      <p:sp>
        <p:nvSpPr>
          <p:cNvPr id="12" name="card-9.950000000000001-1.45"/>
          <p:cNvSpPr/>
          <p:nvPr/>
        </p:nvSpPr>
        <p:spPr>
          <a:xfrm>
            <a:off x="9098280" y="1325880"/>
            <a:ext cx="2606040" cy="1051560"/>
          </a:xfrm>
          <a:prstGeom prst="roundRect">
            <a:avLst>
              <a:gd name="adj" fmla="val 8696"/>
            </a:avLst>
          </a:prstGeom>
          <a:solidFill>
            <a:schemeClr val="bg2"/>
          </a:solidFill>
          <a:ln w="12700">
            <a:solidFill>
              <a:srgbClr val="E3E6F0"/>
            </a:solidFill>
            <a:prstDash val="solid"/>
          </a:ln>
        </p:spPr>
      </p:sp>
      <p:sp>
        <p:nvSpPr>
          <p:cNvPr id="13" name="Text 11"/>
          <p:cNvSpPr txBox="1"/>
          <p:nvPr/>
        </p:nvSpPr>
        <p:spPr>
          <a:xfrm>
            <a:off x="9299448" y="1481328"/>
            <a:ext cx="2240280" cy="274320"/>
          </a:xfrm>
          <a:prstGeom prst="rect">
            <a:avLst/>
          </a:prstGeom>
          <a:noFill/>
          <a:ln/>
        </p:spPr>
        <p:txBody>
          <a:bodyPr wrap="square" lIns="0" tIns="0" rIns="0" bIns="0" rtlCol="0" anchor="ctr"/>
          <a:lstStyle/>
          <a:p>
            <a:pPr indent="0" marL="0">
              <a:buNone/>
            </a:pPr>
            <a:r>
              <a:rPr lang="en-US" sz="1350" b="1" dirty="0">
                <a:solidFill>
                  <a:schemeClr val="tx2"/>
                </a:solidFill>
              </a:rPr>
              <a:t>Dự đoán giá</a:t>
            </a:r>
            <a:endParaRPr lang="en-US" sz="1350" dirty="0"/>
          </a:p>
        </p:txBody>
      </p:sp>
      <p:sp>
        <p:nvSpPr>
          <p:cNvPr id="14" name="Text 12"/>
          <p:cNvSpPr txBox="1"/>
          <p:nvPr/>
        </p:nvSpPr>
        <p:spPr>
          <a:xfrm>
            <a:off x="9299448" y="1783080"/>
            <a:ext cx="2240280" cy="502920"/>
          </a:xfrm>
          <a:prstGeom prst="rect">
            <a:avLst/>
          </a:prstGeom>
          <a:noFill/>
          <a:ln/>
        </p:spPr>
        <p:txBody>
          <a:bodyPr wrap="square" lIns="0" tIns="0" rIns="0" bIns="0" rtlCol="0" anchor="ctr"/>
          <a:lstStyle/>
          <a:p>
            <a:pPr indent="0" marL="0">
              <a:buNone/>
            </a:pPr>
            <a:r>
              <a:rPr lang="en-US" sz="1100" dirty="0">
                <a:solidFill>
                  <a:srgbClr val="4B5163"/>
                </a:solidFill>
              </a:rPr>
              <a:t>So sánh mô hình, ma trận nhầm lẫn</a:t>
            </a:r>
            <a:endParaRPr lang="en-US" sz="1100" dirty="0"/>
          </a:p>
        </p:txBody>
      </p:sp>
      <p:sp>
        <p:nvSpPr>
          <p:cNvPr id="15" name="card-0.65-2.8"/>
          <p:cNvSpPr/>
          <p:nvPr/>
        </p:nvSpPr>
        <p:spPr>
          <a:xfrm>
            <a:off x="594360" y="2560320"/>
            <a:ext cx="2606040" cy="1051560"/>
          </a:xfrm>
          <a:prstGeom prst="roundRect">
            <a:avLst>
              <a:gd name="adj" fmla="val 8696"/>
            </a:avLst>
          </a:prstGeom>
          <a:solidFill>
            <a:schemeClr val="bg2"/>
          </a:solidFill>
          <a:ln w="12700">
            <a:solidFill>
              <a:srgbClr val="E3E6F0"/>
            </a:solidFill>
            <a:prstDash val="solid"/>
          </a:ln>
        </p:spPr>
      </p:sp>
      <p:sp>
        <p:nvSpPr>
          <p:cNvPr id="16" name="Text 14"/>
          <p:cNvSpPr txBox="1"/>
          <p:nvPr/>
        </p:nvSpPr>
        <p:spPr>
          <a:xfrm>
            <a:off x="795528" y="2715768"/>
            <a:ext cx="2240280" cy="274320"/>
          </a:xfrm>
          <a:prstGeom prst="rect">
            <a:avLst/>
          </a:prstGeom>
          <a:noFill/>
          <a:ln/>
        </p:spPr>
        <p:txBody>
          <a:bodyPr wrap="square" lIns="0" tIns="0" rIns="0" bIns="0" rtlCol="0" anchor="ctr"/>
          <a:lstStyle/>
          <a:p>
            <a:pPr indent="0" marL="0">
              <a:buNone/>
            </a:pPr>
            <a:r>
              <a:rPr lang="en-US" sz="1350" b="1" dirty="0">
                <a:solidFill>
                  <a:schemeClr val="tx2"/>
                </a:solidFill>
              </a:rPr>
              <a:t>Phát hiện bất thường</a:t>
            </a:r>
            <a:endParaRPr lang="en-US" sz="1350" dirty="0"/>
          </a:p>
        </p:txBody>
      </p:sp>
      <p:sp>
        <p:nvSpPr>
          <p:cNvPr id="17" name="Text 15"/>
          <p:cNvSpPr txBox="1"/>
          <p:nvPr/>
        </p:nvSpPr>
        <p:spPr>
          <a:xfrm>
            <a:off x="795528" y="3017520"/>
            <a:ext cx="2240280" cy="502920"/>
          </a:xfrm>
          <a:prstGeom prst="rect">
            <a:avLst/>
          </a:prstGeom>
          <a:noFill/>
          <a:ln/>
        </p:spPr>
        <p:txBody>
          <a:bodyPr wrap="square" lIns="0" tIns="0" rIns="0" bIns="0" rtlCol="0" anchor="ctr"/>
          <a:lstStyle/>
          <a:p>
            <a:pPr indent="0" marL="0">
              <a:buNone/>
            </a:pPr>
            <a:r>
              <a:rPr lang="en-US" sz="1100" dirty="0">
                <a:solidFill>
                  <a:srgbClr val="4B5163"/>
                </a:solidFill>
              </a:rPr>
              <a:t>Danh sách cần rà soát kèm lý do</a:t>
            </a:r>
            <a:endParaRPr lang="en-US" sz="1100" dirty="0"/>
          </a:p>
        </p:txBody>
      </p:sp>
      <p:sp>
        <p:nvSpPr>
          <p:cNvPr id="18" name="card-3.75-2.8"/>
          <p:cNvSpPr/>
          <p:nvPr/>
        </p:nvSpPr>
        <p:spPr>
          <a:xfrm>
            <a:off x="3429000" y="2560320"/>
            <a:ext cx="2606040" cy="1051560"/>
          </a:xfrm>
          <a:prstGeom prst="roundRect">
            <a:avLst>
              <a:gd name="adj" fmla="val 8696"/>
            </a:avLst>
          </a:prstGeom>
          <a:solidFill>
            <a:schemeClr val="bg2"/>
          </a:solidFill>
          <a:ln w="12700">
            <a:solidFill>
              <a:srgbClr val="E3E6F0"/>
            </a:solidFill>
            <a:prstDash val="solid"/>
          </a:ln>
        </p:spPr>
      </p:sp>
      <p:sp>
        <p:nvSpPr>
          <p:cNvPr id="19" name="Text 17"/>
          <p:cNvSpPr txBox="1"/>
          <p:nvPr/>
        </p:nvSpPr>
        <p:spPr>
          <a:xfrm>
            <a:off x="3630168" y="2715768"/>
            <a:ext cx="2240280" cy="274320"/>
          </a:xfrm>
          <a:prstGeom prst="rect">
            <a:avLst/>
          </a:prstGeom>
          <a:noFill/>
          <a:ln/>
        </p:spPr>
        <p:txBody>
          <a:bodyPr wrap="square" lIns="0" tIns="0" rIns="0" bIns="0" rtlCol="0" anchor="ctr"/>
          <a:lstStyle/>
          <a:p>
            <a:pPr indent="0" marL="0">
              <a:buNone/>
            </a:pPr>
            <a:r>
              <a:rPr lang="en-US" sz="1350" b="1" dirty="0">
                <a:solidFill>
                  <a:schemeClr val="tx2"/>
                </a:solidFill>
              </a:rPr>
              <a:t>Báo cáo thống kê</a:t>
            </a:r>
            <a:endParaRPr lang="en-US" sz="1350" dirty="0"/>
          </a:p>
        </p:txBody>
      </p:sp>
      <p:sp>
        <p:nvSpPr>
          <p:cNvPr id="20" name="Text 18"/>
          <p:cNvSpPr txBox="1"/>
          <p:nvPr/>
        </p:nvSpPr>
        <p:spPr>
          <a:xfrm>
            <a:off x="3630168" y="3017520"/>
            <a:ext cx="2240280" cy="502920"/>
          </a:xfrm>
          <a:prstGeom prst="rect">
            <a:avLst/>
          </a:prstGeom>
          <a:noFill/>
          <a:ln/>
        </p:spPr>
        <p:txBody>
          <a:bodyPr wrap="square" lIns="0" tIns="0" rIns="0" bIns="0" rtlCol="0" anchor="ctr"/>
          <a:lstStyle/>
          <a:p>
            <a:pPr indent="0" marL="0">
              <a:buNone/>
            </a:pPr>
            <a:r>
              <a:rPr lang="en-US" sz="1100" dirty="0">
                <a:solidFill>
                  <a:srgbClr val="4B5163"/>
                </a:solidFill>
              </a:rPr>
              <a:t>Min – max, chất lượng dữ liệu, in PDF</a:t>
            </a:r>
            <a:endParaRPr lang="en-US" sz="1100" dirty="0"/>
          </a:p>
        </p:txBody>
      </p:sp>
      <p:sp>
        <p:nvSpPr>
          <p:cNvPr id="21" name="card-6.8500000000000005-2.8"/>
          <p:cNvSpPr/>
          <p:nvPr/>
        </p:nvSpPr>
        <p:spPr>
          <a:xfrm>
            <a:off x="6263640" y="2560320"/>
            <a:ext cx="2606040" cy="1051560"/>
          </a:xfrm>
          <a:prstGeom prst="roundRect">
            <a:avLst>
              <a:gd name="adj" fmla="val 8696"/>
            </a:avLst>
          </a:prstGeom>
          <a:solidFill>
            <a:schemeClr val="bg2"/>
          </a:solidFill>
          <a:ln w="12700">
            <a:solidFill>
              <a:srgbClr val="E3E6F0"/>
            </a:solidFill>
            <a:prstDash val="solid"/>
          </a:ln>
        </p:spPr>
      </p:sp>
      <p:sp>
        <p:nvSpPr>
          <p:cNvPr id="22" name="Text 20"/>
          <p:cNvSpPr txBox="1"/>
          <p:nvPr/>
        </p:nvSpPr>
        <p:spPr>
          <a:xfrm>
            <a:off x="6464808" y="2715768"/>
            <a:ext cx="2240280" cy="274320"/>
          </a:xfrm>
          <a:prstGeom prst="rect">
            <a:avLst/>
          </a:prstGeom>
          <a:noFill/>
          <a:ln/>
        </p:spPr>
        <p:txBody>
          <a:bodyPr wrap="square" lIns="0" tIns="0" rIns="0" bIns="0" rtlCol="0" anchor="ctr"/>
          <a:lstStyle/>
          <a:p>
            <a:pPr indent="0" marL="0">
              <a:buNone/>
            </a:pPr>
            <a:r>
              <a:rPr lang="en-US" sz="1350" b="1" dirty="0">
                <a:solidFill>
                  <a:schemeClr val="tx2"/>
                </a:solidFill>
              </a:rPr>
              <a:t>Thu thập dữ liệu</a:t>
            </a:r>
            <a:endParaRPr lang="en-US" sz="1350" dirty="0"/>
          </a:p>
        </p:txBody>
      </p:sp>
      <p:sp>
        <p:nvSpPr>
          <p:cNvPr id="23" name="Text 21"/>
          <p:cNvSpPr txBox="1"/>
          <p:nvPr/>
        </p:nvSpPr>
        <p:spPr>
          <a:xfrm>
            <a:off x="6464808" y="3017520"/>
            <a:ext cx="2240280" cy="502920"/>
          </a:xfrm>
          <a:prstGeom prst="rect">
            <a:avLst/>
          </a:prstGeom>
          <a:noFill/>
          <a:ln/>
        </p:spPr>
        <p:txBody>
          <a:bodyPr wrap="square" lIns="0" tIns="0" rIns="0" bIns="0" rtlCol="0" anchor="ctr"/>
          <a:lstStyle/>
          <a:p>
            <a:pPr indent="0" marL="0">
              <a:buNone/>
            </a:pPr>
            <a:r>
              <a:rPr lang="en-US" sz="1100" dirty="0">
                <a:solidFill>
                  <a:srgbClr val="4B5163"/>
                </a:solidFill>
              </a:rPr>
              <a:t>Chạy nền, nhật ký, lịch tự động (Admin)</a:t>
            </a:r>
            <a:endParaRPr lang="en-US" sz="1100" dirty="0"/>
          </a:p>
        </p:txBody>
      </p:sp>
      <p:sp>
        <p:nvSpPr>
          <p:cNvPr id="24" name="card-9.950000000000001-2.8"/>
          <p:cNvSpPr/>
          <p:nvPr/>
        </p:nvSpPr>
        <p:spPr>
          <a:xfrm>
            <a:off x="9098280" y="2560320"/>
            <a:ext cx="2606040" cy="1051560"/>
          </a:xfrm>
          <a:prstGeom prst="roundRect">
            <a:avLst>
              <a:gd name="adj" fmla="val 8696"/>
            </a:avLst>
          </a:prstGeom>
          <a:solidFill>
            <a:schemeClr val="bg2"/>
          </a:solidFill>
          <a:ln w="12700">
            <a:solidFill>
              <a:srgbClr val="E3E6F0"/>
            </a:solidFill>
            <a:prstDash val="solid"/>
          </a:ln>
        </p:spPr>
      </p:sp>
      <p:sp>
        <p:nvSpPr>
          <p:cNvPr id="25" name="Text 23"/>
          <p:cNvSpPr txBox="1"/>
          <p:nvPr/>
        </p:nvSpPr>
        <p:spPr>
          <a:xfrm>
            <a:off x="9299448" y="2715768"/>
            <a:ext cx="2240280" cy="274320"/>
          </a:xfrm>
          <a:prstGeom prst="rect">
            <a:avLst/>
          </a:prstGeom>
          <a:noFill/>
          <a:ln/>
        </p:spPr>
        <p:txBody>
          <a:bodyPr wrap="square" lIns="0" tIns="0" rIns="0" bIns="0" rtlCol="0" anchor="ctr"/>
          <a:lstStyle/>
          <a:p>
            <a:pPr indent="0" marL="0">
              <a:buNone/>
            </a:pPr>
            <a:r>
              <a:rPr lang="en-US" sz="1350" b="1" dirty="0">
                <a:solidFill>
                  <a:schemeClr val="tx2"/>
                </a:solidFill>
              </a:rPr>
              <a:t>Sao lưu &amp; phục hồi</a:t>
            </a:r>
            <a:endParaRPr lang="en-US" sz="1350" dirty="0"/>
          </a:p>
        </p:txBody>
      </p:sp>
      <p:sp>
        <p:nvSpPr>
          <p:cNvPr id="26" name="Text 24"/>
          <p:cNvSpPr txBox="1"/>
          <p:nvPr/>
        </p:nvSpPr>
        <p:spPr>
          <a:xfrm>
            <a:off x="9299448" y="3017520"/>
            <a:ext cx="2240280" cy="502920"/>
          </a:xfrm>
          <a:prstGeom prst="rect">
            <a:avLst/>
          </a:prstGeom>
          <a:noFill/>
          <a:ln/>
        </p:spPr>
        <p:txBody>
          <a:bodyPr wrap="square" lIns="0" tIns="0" rIns="0" bIns="0" rtlCol="0" anchor="ctr"/>
          <a:lstStyle/>
          <a:p>
            <a:pPr indent="0" marL="0">
              <a:buNone/>
            </a:pPr>
            <a:r>
              <a:rPr lang="en-US" sz="1100" dirty="0">
                <a:solidFill>
                  <a:srgbClr val="4B5163"/>
                </a:solidFill>
              </a:rPr>
              <a:t>Sao lưu, tải lên, phục hồi có kiểm tra (Admin)</a:t>
            </a:r>
            <a:endParaRPr lang="en-US" sz="11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94360" y="3977640"/>
          <a:ext cx="8138160" cy="914400"/>
        </p:xfrm>
        <a:graphic>
          <a:graphicData uri="http://schemas.openxmlformats.org/drawingml/2006/table">
            <a:tbl>
              <a:tblPr/>
              <a:tblGrid>
                <a:gridCol w="5120640"/>
                <a:gridCol w="1463040"/>
                <a:gridCol w="1554480"/>
              </a:tblGrid>
              <a:tr h="310896">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Chức năng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Người dùng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Quản trị viên</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r>
              <a:tr h="310896">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Xem phân tích, tìm kiếm, lọc, xuất CSV và PDF</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Có</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Có</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10896">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Thêm, sửa, xóa sản phẩm</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Không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Có</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10896">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Thu thập dữ liệu, đặt lịch tự động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Không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Có</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10896">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Sao lưu, tải lên, phục hồi dữ liệu</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Không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Có</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bl>
          </a:graphicData>
        </a:graphic>
      </p:graphicFrame>
      <p:sp>
        <p:nvSpPr>
          <p:cNvPr id="28" name="card-9.85-4.35"/>
          <p:cNvSpPr/>
          <p:nvPr/>
        </p:nvSpPr>
        <p:spPr>
          <a:xfrm>
            <a:off x="9006840" y="3977640"/>
            <a:ext cx="2560320" cy="1572768"/>
          </a:xfrm>
          <a:prstGeom prst="roundRect">
            <a:avLst>
              <a:gd name="adj" fmla="val 5814"/>
            </a:avLst>
          </a:prstGeom>
          <a:solidFill>
            <a:srgbClr val="EEF0FF"/>
          </a:solidFill>
          <a:ln w="12700">
            <a:solidFill>
              <a:srgbClr val="D5D8FA"/>
            </a:solidFill>
            <a:prstDash val="solid"/>
          </a:ln>
        </p:spPr>
      </p:sp>
      <p:sp>
        <p:nvSpPr>
          <p:cNvPr id="29" name="Text 26"/>
          <p:cNvSpPr txBox="1"/>
          <p:nvPr/>
        </p:nvSpPr>
        <p:spPr>
          <a:xfrm>
            <a:off x="9235440" y="4133088"/>
            <a:ext cx="2103120" cy="274320"/>
          </a:xfrm>
          <a:prstGeom prst="rect">
            <a:avLst/>
          </a:prstGeom>
          <a:noFill/>
          <a:ln/>
        </p:spPr>
        <p:txBody>
          <a:bodyPr wrap="square" lIns="0" tIns="0" rIns="0" bIns="0" rtlCol="0" anchor="ctr"/>
          <a:lstStyle/>
          <a:p>
            <a:pPr indent="0" marL="0">
              <a:buNone/>
            </a:pPr>
            <a:r>
              <a:rPr lang="en-US" sz="1350" b="1" dirty="0">
                <a:solidFill>
                  <a:srgbClr val="4F46E5"/>
                </a:solidFill>
              </a:rPr>
              <a:t>Phân quyền hai lớp</a:t>
            </a:r>
            <a:endParaRPr lang="en-US" sz="1350" dirty="0"/>
          </a:p>
        </p:txBody>
      </p:sp>
      <p:sp>
        <p:nvSpPr>
          <p:cNvPr id="30" name="Text 27"/>
          <p:cNvSpPr txBox="1"/>
          <p:nvPr/>
        </p:nvSpPr>
        <p:spPr>
          <a:xfrm>
            <a:off x="9235440" y="4434840"/>
            <a:ext cx="2103120" cy="1005840"/>
          </a:xfrm>
          <a:prstGeom prst="rect">
            <a:avLst/>
          </a:prstGeom>
          <a:noFill/>
          <a:ln/>
        </p:spPr>
        <p:txBody>
          <a:bodyPr wrap="square" lIns="0" tIns="0" rIns="0" bIns="0" rtlCol="0" anchor="ctr"/>
          <a:lstStyle/>
          <a:p>
            <a:pPr indent="0" marL="0">
              <a:buNone/>
            </a:pPr>
            <a:r>
              <a:rPr lang="en-US" sz="1150" dirty="0">
                <a:solidFill>
                  <a:srgbClr val="4B5163"/>
                </a:solidFill>
              </a:rPr>
              <a:t>Giao diện ẩn nút, backend kiểm tra lại vai trò ở từng API. Sửa vai trò trong trình duyệt vẫn bị trả về đúng vai trò thật.</a:t>
            </a:r>
            <a:endParaRPr lang="en-US" sz="1150" dirty="0"/>
          </a:p>
        </p:txBody>
      </p:sp>
      <p:sp>
        <p:nvSpPr>
          <p:cNvPr id="32" name="Text 0"/>
          <p:cNvSpPr/>
          <p:nvPr>
            <p:ph idx="101" type="body" hasCustomPrompt="1"/>
          </p:nvPr>
        </p:nvSpPr>
        <p:spPr>
          <a:xfrm>
            <a:off x="594360" y="1234440"/>
            <a:ext cx="10972800" cy="4937760"/>
          </a:xfrm>
          <a:prstGeom prst="rect">
            <a:avLst/>
          </a:prstGeom>
          <a:noFill/>
          <a:ln/>
        </p:spPr>
        <p:txBody>
          <a:bodyPr wrap="square" rtlCol="0"/>
          <a:lstStyle/>
          <a:p>
            <a:pPr algn="l" indent="0" marL="0">
              <a:buNone/>
            </a:pPr>
            <a:endParaRPr lang="en-US" sz="1500" dirty="0"/>
          </a:p>
        </p:txBody>
      </p:sp>
      <p:sp>
        <p:nvSpPr>
          <p:cNvPr id="33" name="Text 1"/>
          <p:cNvSpPr/>
          <p:nvPr>
            <p:ph idx="103" hasCustomPrompt="1"/>
          </p:nvPr>
        </p:nvSpPr>
        <p:spPr>
          <a:xfrm>
            <a:off x="11247120" y="6355080"/>
            <a:ext cx="45720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731520"/>
          </a:xfrm>
          <a:prstGeom prst="rect">
            <a:avLst/>
          </a:prstGeom>
          <a:noFill/>
          <a:ln/>
        </p:spPr>
        <p:txBody>
          <a:bodyPr wrap="square" rtlCol="0"/>
          <a:lstStyle/>
          <a:p>
            <a:pPr algn="l" indent="0" marL="0">
              <a:buNone/>
            </a:pPr>
            <a:r>
              <a:rPr lang="en-US" sz="3000" b="1" dirty="0">
                <a:solidFill>
                  <a:schemeClr val="tx2"/>
                </a:solidFill>
              </a:rPr>
              <a:t>Sao lưu, phục hồi và kiểm thử</a:t>
            </a:r>
            <a:endParaRPr lang="en-US" sz="3000" dirty="0"/>
          </a:p>
        </p:txBody>
      </p:sp>
      <p:sp>
        <p:nvSpPr>
          <p:cNvPr id="3" name="n1"/>
          <p:cNvSpPr/>
          <p:nvPr/>
        </p:nvSpPr>
        <p:spPr>
          <a:xfrm>
            <a:off x="640080" y="1463040"/>
            <a:ext cx="384048" cy="384048"/>
          </a:xfrm>
          <a:prstGeom prst="ellipse">
            <a:avLst/>
          </a:prstGeom>
          <a:solidFill>
            <a:srgbClr val="2A78D6"/>
          </a:solidFill>
          <a:ln w="12700">
            <a:solidFill>
              <a:srgbClr val="2A78D6"/>
            </a:solidFill>
            <a:prstDash val="solid"/>
          </a:ln>
        </p:spPr>
      </p:sp>
      <p:sp>
        <p:nvSpPr>
          <p:cNvPr id="4" name="Text 2"/>
          <p:cNvSpPr txBox="1"/>
          <p:nvPr/>
        </p:nvSpPr>
        <p:spPr>
          <a:xfrm>
            <a:off x="640080" y="1490472"/>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5" name="Text 3"/>
          <p:cNvSpPr txBox="1"/>
          <p:nvPr/>
        </p:nvSpPr>
        <p:spPr>
          <a:xfrm>
            <a:off x="1207008" y="1444752"/>
            <a:ext cx="4828032" cy="274320"/>
          </a:xfrm>
          <a:prstGeom prst="rect">
            <a:avLst/>
          </a:prstGeom>
          <a:noFill/>
          <a:ln/>
        </p:spPr>
        <p:txBody>
          <a:bodyPr wrap="square" lIns="0" tIns="0" rIns="0" bIns="0" rtlCol="0" anchor="ctr"/>
          <a:lstStyle/>
          <a:p>
            <a:pPr indent="0" marL="0">
              <a:buNone/>
            </a:pPr>
            <a:r>
              <a:rPr lang="en-US" sz="1450" b="1" dirty="0">
                <a:solidFill>
                  <a:schemeClr val="tx2"/>
                </a:solidFill>
              </a:rPr>
              <a:t>Sao lưu</a:t>
            </a:r>
            <a:endParaRPr lang="en-US" sz="1450" dirty="0"/>
          </a:p>
        </p:txBody>
      </p:sp>
      <p:sp>
        <p:nvSpPr>
          <p:cNvPr id="6" name="Text 4"/>
          <p:cNvSpPr txBox="1"/>
          <p:nvPr/>
        </p:nvSpPr>
        <p:spPr>
          <a:xfrm>
            <a:off x="1207008" y="1709928"/>
            <a:ext cx="4828032" cy="475488"/>
          </a:xfrm>
          <a:prstGeom prst="rect">
            <a:avLst/>
          </a:prstGeom>
          <a:noFill/>
          <a:ln/>
        </p:spPr>
        <p:txBody>
          <a:bodyPr wrap="square" lIns="0" tIns="0" rIns="0" bIns="0" rtlCol="0" anchor="ctr"/>
          <a:lstStyle/>
          <a:p>
            <a:pPr indent="0" marL="0">
              <a:buNone/>
            </a:pPr>
            <a:r>
              <a:rPr lang="en-US" sz="1200" dirty="0">
                <a:solidFill>
                  <a:srgbClr val="4B5163"/>
                </a:solidFill>
              </a:rPr>
              <a:t>SQLite Online Backup API, an toàn khi web đang chạy. Kiểm tra toàn vẹn, đếm 13 bảng, tính SHA-256</a:t>
            </a:r>
            <a:endParaRPr lang="en-US" sz="1200" dirty="0"/>
          </a:p>
        </p:txBody>
      </p:sp>
      <p:sp>
        <p:nvSpPr>
          <p:cNvPr id="7" name="n2"/>
          <p:cNvSpPr/>
          <p:nvPr/>
        </p:nvSpPr>
        <p:spPr>
          <a:xfrm>
            <a:off x="640080" y="2450592"/>
            <a:ext cx="384048" cy="384048"/>
          </a:xfrm>
          <a:prstGeom prst="ellipse">
            <a:avLst/>
          </a:prstGeom>
          <a:solidFill>
            <a:srgbClr val="EDA100"/>
          </a:solidFill>
          <a:ln w="12700">
            <a:solidFill>
              <a:srgbClr val="EDA100"/>
            </a:solidFill>
            <a:prstDash val="solid"/>
          </a:ln>
        </p:spPr>
      </p:sp>
      <p:sp>
        <p:nvSpPr>
          <p:cNvPr id="8" name="Text 6"/>
          <p:cNvSpPr txBox="1"/>
          <p:nvPr/>
        </p:nvSpPr>
        <p:spPr>
          <a:xfrm>
            <a:off x="640080" y="2478024"/>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9" name="Text 7"/>
          <p:cNvSpPr txBox="1"/>
          <p:nvPr/>
        </p:nvSpPr>
        <p:spPr>
          <a:xfrm>
            <a:off x="1207008" y="2432304"/>
            <a:ext cx="4828032" cy="274320"/>
          </a:xfrm>
          <a:prstGeom prst="rect">
            <a:avLst/>
          </a:prstGeom>
          <a:noFill/>
          <a:ln/>
        </p:spPr>
        <p:txBody>
          <a:bodyPr wrap="square" lIns="0" tIns="0" rIns="0" bIns="0" rtlCol="0" anchor="ctr"/>
          <a:lstStyle/>
          <a:p>
            <a:pPr indent="0" marL="0">
              <a:buNone/>
            </a:pPr>
            <a:r>
              <a:rPr lang="en-US" sz="1450" b="1" dirty="0">
                <a:solidFill>
                  <a:schemeClr val="tx2"/>
                </a:solidFill>
              </a:rPr>
              <a:t>Trước khi phục hồi</a:t>
            </a:r>
            <a:endParaRPr lang="en-US" sz="1450" dirty="0"/>
          </a:p>
        </p:txBody>
      </p:sp>
      <p:sp>
        <p:nvSpPr>
          <p:cNvPr id="10" name="Text 8"/>
          <p:cNvSpPr txBox="1"/>
          <p:nvPr/>
        </p:nvSpPr>
        <p:spPr>
          <a:xfrm>
            <a:off x="1207008" y="2697480"/>
            <a:ext cx="4828032" cy="475488"/>
          </a:xfrm>
          <a:prstGeom prst="rect">
            <a:avLst/>
          </a:prstGeom>
          <a:noFill/>
          <a:ln/>
        </p:spPr>
        <p:txBody>
          <a:bodyPr wrap="square" lIns="0" tIns="0" rIns="0" bIns="0" rtlCol="0" anchor="ctr"/>
          <a:lstStyle/>
          <a:p>
            <a:pPr indent="0" marL="0">
              <a:buNone/>
            </a:pPr>
            <a:r>
              <a:rPr lang="en-US" sz="1200" dirty="0">
                <a:solidFill>
                  <a:srgbClr val="4B5163"/>
                </a:solidFill>
              </a:rPr>
              <a:t>Đối chiếu SHA-256 để phát hiện tệp bị sửa, tự tạo bản an toàn từ dữ liệu hiện tại</a:t>
            </a:r>
            <a:endParaRPr lang="en-US" sz="1200" dirty="0"/>
          </a:p>
        </p:txBody>
      </p:sp>
      <p:sp>
        <p:nvSpPr>
          <p:cNvPr id="11" name="n3"/>
          <p:cNvSpPr/>
          <p:nvPr/>
        </p:nvSpPr>
        <p:spPr>
          <a:xfrm>
            <a:off x="640080" y="3438144"/>
            <a:ext cx="384048" cy="384048"/>
          </a:xfrm>
          <a:prstGeom prst="ellipse">
            <a:avLst/>
          </a:prstGeom>
          <a:solidFill>
            <a:srgbClr val="4F46E5"/>
          </a:solidFill>
          <a:ln w="12700">
            <a:solidFill>
              <a:srgbClr val="4F46E5"/>
            </a:solidFill>
            <a:prstDash val="solid"/>
          </a:ln>
        </p:spPr>
      </p:sp>
      <p:sp>
        <p:nvSpPr>
          <p:cNvPr id="12" name="Text 10"/>
          <p:cNvSpPr txBox="1"/>
          <p:nvPr/>
        </p:nvSpPr>
        <p:spPr>
          <a:xfrm>
            <a:off x="640080" y="3465576"/>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3" name="Text 11"/>
          <p:cNvSpPr txBox="1"/>
          <p:nvPr/>
        </p:nvSpPr>
        <p:spPr>
          <a:xfrm>
            <a:off x="1207008" y="3419856"/>
            <a:ext cx="4828032" cy="274320"/>
          </a:xfrm>
          <a:prstGeom prst="rect">
            <a:avLst/>
          </a:prstGeom>
          <a:noFill/>
          <a:ln/>
        </p:spPr>
        <p:txBody>
          <a:bodyPr wrap="square" lIns="0" tIns="0" rIns="0" bIns="0" rtlCol="0" anchor="ctr"/>
          <a:lstStyle/>
          <a:p>
            <a:pPr indent="0" marL="0">
              <a:buNone/>
            </a:pPr>
            <a:r>
              <a:rPr lang="en-US" sz="1450" b="1" dirty="0">
                <a:solidFill>
                  <a:schemeClr val="tx2"/>
                </a:solidFill>
              </a:rPr>
              <a:t>Phục hồi</a:t>
            </a:r>
            <a:endParaRPr lang="en-US" sz="1450" dirty="0"/>
          </a:p>
        </p:txBody>
      </p:sp>
      <p:sp>
        <p:nvSpPr>
          <p:cNvPr id="14" name="Text 12"/>
          <p:cNvSpPr txBox="1"/>
          <p:nvPr/>
        </p:nvSpPr>
        <p:spPr>
          <a:xfrm>
            <a:off x="1207008" y="3685032"/>
            <a:ext cx="4828032" cy="475488"/>
          </a:xfrm>
          <a:prstGeom prst="rect">
            <a:avLst/>
          </a:prstGeom>
          <a:noFill/>
          <a:ln/>
        </p:spPr>
        <p:txBody>
          <a:bodyPr wrap="square" lIns="0" tIns="0" rIns="0" bIns="0" rtlCol="0" anchor="ctr"/>
          <a:lstStyle/>
          <a:p>
            <a:pPr indent="0" marL="0">
              <a:buNone/>
            </a:pPr>
            <a:r>
              <a:rPr lang="en-US" sz="1200" dirty="0">
                <a:solidFill>
                  <a:srgbClr val="4B5163"/>
                </a:solidFill>
              </a:rPr>
              <a:t>Ghi bản sao lưu vào CSDL đang chạy, bổ sung bảng hoặc cột mới nếu là bản cũ</a:t>
            </a:r>
            <a:endParaRPr lang="en-US" sz="1200" dirty="0"/>
          </a:p>
        </p:txBody>
      </p:sp>
      <p:sp>
        <p:nvSpPr>
          <p:cNvPr id="15" name="n4"/>
          <p:cNvSpPr/>
          <p:nvPr/>
        </p:nvSpPr>
        <p:spPr>
          <a:xfrm>
            <a:off x="640080" y="4425696"/>
            <a:ext cx="384048" cy="384048"/>
          </a:xfrm>
          <a:prstGeom prst="ellipse">
            <a:avLst/>
          </a:prstGeom>
          <a:solidFill>
            <a:srgbClr val="1BAF7A"/>
          </a:solidFill>
          <a:ln w="12700">
            <a:solidFill>
              <a:srgbClr val="1BAF7A"/>
            </a:solidFill>
            <a:prstDash val="solid"/>
          </a:ln>
        </p:spPr>
      </p:sp>
      <p:sp>
        <p:nvSpPr>
          <p:cNvPr id="16" name="Text 14"/>
          <p:cNvSpPr txBox="1"/>
          <p:nvPr/>
        </p:nvSpPr>
        <p:spPr>
          <a:xfrm>
            <a:off x="640080" y="4453128"/>
            <a:ext cx="384048" cy="329184"/>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17" name="Text 15"/>
          <p:cNvSpPr txBox="1"/>
          <p:nvPr/>
        </p:nvSpPr>
        <p:spPr>
          <a:xfrm>
            <a:off x="1207008" y="4407408"/>
            <a:ext cx="4828032" cy="274320"/>
          </a:xfrm>
          <a:prstGeom prst="rect">
            <a:avLst/>
          </a:prstGeom>
          <a:noFill/>
          <a:ln/>
        </p:spPr>
        <p:txBody>
          <a:bodyPr wrap="square" lIns="0" tIns="0" rIns="0" bIns="0" rtlCol="0" anchor="ctr"/>
          <a:lstStyle/>
          <a:p>
            <a:pPr indent="0" marL="0">
              <a:buNone/>
            </a:pPr>
            <a:r>
              <a:rPr lang="en-US" sz="1450" b="1" dirty="0">
                <a:solidFill>
                  <a:schemeClr val="tx2"/>
                </a:solidFill>
              </a:rPr>
              <a:t>Sau khi phục hồi</a:t>
            </a:r>
            <a:endParaRPr lang="en-US" sz="1450" dirty="0"/>
          </a:p>
        </p:txBody>
      </p:sp>
      <p:sp>
        <p:nvSpPr>
          <p:cNvPr id="18" name="Text 16"/>
          <p:cNvSpPr txBox="1"/>
          <p:nvPr/>
        </p:nvSpPr>
        <p:spPr>
          <a:xfrm>
            <a:off x="1207008" y="4672584"/>
            <a:ext cx="4828032" cy="475488"/>
          </a:xfrm>
          <a:prstGeom prst="rect">
            <a:avLst/>
          </a:prstGeom>
          <a:noFill/>
          <a:ln/>
        </p:spPr>
        <p:txBody>
          <a:bodyPr wrap="square" lIns="0" tIns="0" rIns="0" bIns="0" rtlCol="0" anchor="ctr"/>
          <a:lstStyle/>
          <a:p>
            <a:pPr indent="0" marL="0">
              <a:buNone/>
            </a:pPr>
            <a:r>
              <a:rPr lang="en-US" sz="1200" dirty="0">
                <a:solidFill>
                  <a:srgbClr val="4B5163"/>
                </a:solidFill>
              </a:rPr>
              <a:t>So số dòng 13 bảng với bản sao lưu rồi hiện bảng kết quả Khớp hoặc Lệch</a:t>
            </a:r>
            <a:endParaRPr lang="en-US" sz="12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355080" y="1371600"/>
          <a:ext cx="5212080" cy="914400"/>
        </p:xfrm>
        <a:graphic>
          <a:graphicData uri="http://schemas.openxmlformats.org/drawingml/2006/table">
            <a:tbl>
              <a:tblPr/>
              <a:tblGrid>
                <a:gridCol w="2011680"/>
                <a:gridCol w="2377440"/>
                <a:gridCol w="822960"/>
              </a:tblGrid>
              <a:tr h="420624">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Kiểm thử</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Nội dung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Kết quả</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r>
              <a:tr h="42062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test_api.py</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Đăng nhập, phân quyền, API, CRUD, thu thập</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6/6</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42062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test_backup.py</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Phục hồi thật có đối chiếu, từ chối tệp xấu</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7/7</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42062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test_crawler.py</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Mã sản phẩm, robots.txt, làm sạch, review</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420624">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21 test case giao diện</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Chạy thật trên Chrome, tự chụp ảnh và quay video</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21/21</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bl>
          </a:graphicData>
        </a:graphic>
      </p:graphicFrame>
      <p:sp>
        <p:nvSpPr>
          <p:cNvPr id="20" name="card-6.95-4.1"/>
          <p:cNvSpPr/>
          <p:nvPr/>
        </p:nvSpPr>
        <p:spPr>
          <a:xfrm>
            <a:off x="6355080" y="3749040"/>
            <a:ext cx="5212080" cy="1783080"/>
          </a:xfrm>
          <a:prstGeom prst="roundRect">
            <a:avLst>
              <a:gd name="adj" fmla="val 5128"/>
            </a:avLst>
          </a:prstGeom>
          <a:solidFill>
            <a:srgbClr val="EEF6EE"/>
          </a:solidFill>
          <a:ln w="12700">
            <a:solidFill>
              <a:srgbClr val="CBE3CB"/>
            </a:solidFill>
            <a:prstDash val="solid"/>
          </a:ln>
        </p:spPr>
      </p:sp>
      <p:sp>
        <p:nvSpPr>
          <p:cNvPr id="21" name="Text 18"/>
          <p:cNvSpPr txBox="1"/>
          <p:nvPr/>
        </p:nvSpPr>
        <p:spPr>
          <a:xfrm>
            <a:off x="6629400" y="3913632"/>
            <a:ext cx="4663440" cy="274320"/>
          </a:xfrm>
          <a:prstGeom prst="rect">
            <a:avLst/>
          </a:prstGeom>
          <a:noFill/>
          <a:ln/>
        </p:spPr>
        <p:txBody>
          <a:bodyPr wrap="square" lIns="0" tIns="0" rIns="0" bIns="0" rtlCol="0" anchor="ctr"/>
          <a:lstStyle/>
          <a:p>
            <a:pPr indent="0" marL="0">
              <a:buNone/>
            </a:pPr>
            <a:r>
              <a:rPr lang="en-US" sz="1400" b="1" dirty="0">
                <a:solidFill>
                  <a:srgbClr val="2C6E2E"/>
                </a:solidFill>
              </a:rPr>
              <a:t>Phục hồi được kiểm chứng thật</a:t>
            </a:r>
            <a:endParaRPr lang="en-US" sz="1400" dirty="0"/>
          </a:p>
        </p:txBody>
      </p:sp>
      <p:sp>
        <p:nvSpPr>
          <p:cNvPr id="22" name="Text 19"/>
          <p:cNvSpPr txBox="1"/>
          <p:nvPr/>
        </p:nvSpPr>
        <p:spPr>
          <a:xfrm>
            <a:off x="6629400" y="4224528"/>
            <a:ext cx="4663440" cy="1143000"/>
          </a:xfrm>
          <a:prstGeom prst="rect">
            <a:avLst/>
          </a:prstGeom>
          <a:noFill/>
          <a:ln/>
        </p:spPr>
        <p:txBody>
          <a:bodyPr wrap="square" lIns="0" tIns="0" rIns="0" bIns="0" rtlCol="0" anchor="ctr"/>
          <a:lstStyle/>
          <a:p>
            <a:pPr indent="0" marL="0">
              <a:buNone/>
            </a:pPr>
            <a:r>
              <a:rPr lang="en-US" sz="1250" dirty="0">
                <a:solidFill>
                  <a:srgbClr val="4B5163"/>
                </a:solidFill>
              </a:rPr>
              <a:t>Kịch bản kiểm thử xóa một sản phẩm để giả lập mất dữ liệu, rồi phục hồi và đối chiếu độc lập từng bảng. Kết quả: 13/13 bảng khớp và sản phẩm đã xóa xuất hiện lại.</a:t>
            </a:r>
            <a:endParaRPr lang="en-US" sz="1250" dirty="0"/>
          </a:p>
        </p:txBody>
      </p:sp>
      <p:sp>
        <p:nvSpPr>
          <p:cNvPr id="24" name="Text 0"/>
          <p:cNvSpPr/>
          <p:nvPr>
            <p:ph idx="101" type="body" hasCustomPrompt="1"/>
          </p:nvPr>
        </p:nvSpPr>
        <p:spPr>
          <a:xfrm>
            <a:off x="594360" y="1234440"/>
            <a:ext cx="10972800" cy="4937760"/>
          </a:xfrm>
          <a:prstGeom prst="rect">
            <a:avLst/>
          </a:prstGeom>
          <a:noFill/>
          <a:ln/>
        </p:spPr>
        <p:txBody>
          <a:bodyPr wrap="square" rtlCol="0"/>
          <a:lstStyle/>
          <a:p>
            <a:pPr algn="l" indent="0" marL="0">
              <a:buNone/>
            </a:pPr>
            <a:endParaRPr lang="en-US" sz="1500" dirty="0"/>
          </a:p>
        </p:txBody>
      </p:sp>
      <p:sp>
        <p:nvSpPr>
          <p:cNvPr id="25" name="Text 1"/>
          <p:cNvSpPr/>
          <p:nvPr>
            <p:ph idx="103" hasCustomPrompt="1"/>
          </p:nvPr>
        </p:nvSpPr>
        <p:spPr>
          <a:xfrm>
            <a:off x="11247120" y="6355080"/>
            <a:ext cx="45720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731520"/>
          </a:xfrm>
          <a:prstGeom prst="rect">
            <a:avLst/>
          </a:prstGeom>
          <a:noFill/>
          <a:ln/>
        </p:spPr>
        <p:txBody>
          <a:bodyPr wrap="square" rtlCol="0"/>
          <a:lstStyle/>
          <a:p>
            <a:pPr algn="l" indent="0" marL="0">
              <a:buNone/>
            </a:pPr>
            <a:r>
              <a:rPr lang="en-US" sz="3000" b="1" dirty="0">
                <a:solidFill>
                  <a:schemeClr val="tx2"/>
                </a:solidFill>
              </a:rPr>
              <a:t>Nhận định về dữ liệu</a:t>
            </a:r>
            <a:endParaRPr lang="en-US" sz="3000" dirty="0"/>
          </a:p>
        </p:txBody>
      </p:sp>
      <p:sp>
        <p:nvSpPr>
          <p:cNvPr id="3" name="card-0.65-1.45"/>
          <p:cNvSpPr/>
          <p:nvPr/>
        </p:nvSpPr>
        <p:spPr>
          <a:xfrm>
            <a:off x="594360" y="1325880"/>
            <a:ext cx="2606040" cy="1417320"/>
          </a:xfrm>
          <a:prstGeom prst="roundRect">
            <a:avLst>
              <a:gd name="adj" fmla="val 6452"/>
            </a:avLst>
          </a:prstGeom>
          <a:solidFill>
            <a:schemeClr val="bg2"/>
          </a:solidFill>
          <a:ln w="12700">
            <a:solidFill>
              <a:srgbClr val="E3E6F0"/>
            </a:solidFill>
            <a:prstDash val="solid"/>
          </a:ln>
        </p:spPr>
      </p:sp>
      <p:sp>
        <p:nvSpPr>
          <p:cNvPr id="4" name="tint-0.65"/>
          <p:cNvSpPr/>
          <p:nvPr/>
        </p:nvSpPr>
        <p:spPr>
          <a:xfrm>
            <a:off x="594360" y="1325880"/>
            <a:ext cx="54864" cy="1417320"/>
          </a:xfrm>
          <a:prstGeom prst="roundRect">
            <a:avLst>
              <a:gd name="adj" fmla="val 50000"/>
            </a:avLst>
          </a:prstGeom>
          <a:solidFill>
            <a:srgbClr val="EB6834"/>
          </a:solidFill>
          <a:ln w="12700">
            <a:solidFill>
              <a:srgbClr val="EB6834"/>
            </a:solidFill>
            <a:prstDash val="solid"/>
          </a:ln>
        </p:spPr>
      </p:sp>
      <p:sp>
        <p:nvSpPr>
          <p:cNvPr id="5" name="Text 3"/>
          <p:cNvSpPr txBox="1"/>
          <p:nvPr/>
        </p:nvSpPr>
        <p:spPr>
          <a:xfrm>
            <a:off x="822960" y="1490472"/>
            <a:ext cx="2240280" cy="640080"/>
          </a:xfrm>
          <a:prstGeom prst="rect">
            <a:avLst/>
          </a:prstGeom>
          <a:noFill/>
          <a:ln/>
        </p:spPr>
        <p:txBody>
          <a:bodyPr wrap="square" lIns="0" tIns="0" rIns="0" bIns="0" rtlCol="0" anchor="ctr"/>
          <a:lstStyle/>
          <a:p>
            <a:pPr indent="0" marL="0">
              <a:buNone/>
            </a:pPr>
            <a:r>
              <a:rPr lang="en-US" sz="3200" b="1" dirty="0">
                <a:solidFill>
                  <a:srgbClr val="EB6834"/>
                </a:solidFill>
              </a:rPr>
              <a:t>75,9%</a:t>
            </a:r>
            <a:endParaRPr lang="en-US" sz="3200" dirty="0"/>
          </a:p>
        </p:txBody>
      </p:sp>
      <p:sp>
        <p:nvSpPr>
          <p:cNvPr id="6" name="Text 4"/>
          <p:cNvSpPr txBox="1"/>
          <p:nvPr/>
        </p:nvSpPr>
        <p:spPr>
          <a:xfrm>
            <a:off x="822960" y="2112264"/>
            <a:ext cx="2240280" cy="274320"/>
          </a:xfrm>
          <a:prstGeom prst="rect">
            <a:avLst/>
          </a:prstGeom>
          <a:noFill/>
          <a:ln/>
        </p:spPr>
        <p:txBody>
          <a:bodyPr wrap="square" lIns="0" tIns="0" rIns="0" bIns="0" rtlCol="0" anchor="ctr"/>
          <a:lstStyle/>
          <a:p>
            <a:pPr indent="0" marL="0">
              <a:buNone/>
            </a:pPr>
            <a:r>
              <a:rPr lang="en-US" sz="1300" b="1" dirty="0">
                <a:solidFill>
                  <a:schemeClr val="tx2"/>
                </a:solidFill>
              </a:rPr>
              <a:t>Sản phẩm đang giảm giá</a:t>
            </a:r>
            <a:endParaRPr lang="en-US" sz="1300" dirty="0"/>
          </a:p>
        </p:txBody>
      </p:sp>
      <p:sp>
        <p:nvSpPr>
          <p:cNvPr id="7" name="Text 5"/>
          <p:cNvSpPr txBox="1"/>
          <p:nvPr/>
        </p:nvSpPr>
        <p:spPr>
          <a:xfrm>
            <a:off x="822960" y="2359152"/>
            <a:ext cx="2240280" cy="292608"/>
          </a:xfrm>
          <a:prstGeom prst="rect">
            <a:avLst/>
          </a:prstGeom>
          <a:noFill/>
          <a:ln/>
        </p:spPr>
        <p:txBody>
          <a:bodyPr wrap="square" lIns="0" tIns="0" rIns="0" bIns="0" rtlCol="0" anchor="ctr"/>
          <a:lstStyle/>
          <a:p>
            <a:pPr indent="0" marL="0">
              <a:buNone/>
            </a:pPr>
            <a:r>
              <a:rPr lang="en-US" sz="1050" dirty="0">
                <a:solidFill>
                  <a:srgbClr val="6B7280"/>
                </a:solidFill>
              </a:rPr>
              <a:t>giảm trung vị 25%</a:t>
            </a:r>
            <a:endParaRPr lang="en-US" sz="1050" dirty="0"/>
          </a:p>
        </p:txBody>
      </p:sp>
      <p:sp>
        <p:nvSpPr>
          <p:cNvPr id="8" name="card-3.68-1.45"/>
          <p:cNvSpPr/>
          <p:nvPr/>
        </p:nvSpPr>
        <p:spPr>
          <a:xfrm>
            <a:off x="3364992" y="1325880"/>
            <a:ext cx="2606040" cy="1417320"/>
          </a:xfrm>
          <a:prstGeom prst="roundRect">
            <a:avLst>
              <a:gd name="adj" fmla="val 6452"/>
            </a:avLst>
          </a:prstGeom>
          <a:solidFill>
            <a:schemeClr val="bg2"/>
          </a:solidFill>
          <a:ln w="12700">
            <a:solidFill>
              <a:srgbClr val="E3E6F0"/>
            </a:solidFill>
            <a:prstDash val="solid"/>
          </a:ln>
        </p:spPr>
      </p:sp>
      <p:sp>
        <p:nvSpPr>
          <p:cNvPr id="9" name="tint-3.68"/>
          <p:cNvSpPr/>
          <p:nvPr/>
        </p:nvSpPr>
        <p:spPr>
          <a:xfrm>
            <a:off x="3364992" y="1325880"/>
            <a:ext cx="54864" cy="1417320"/>
          </a:xfrm>
          <a:prstGeom prst="roundRect">
            <a:avLst>
              <a:gd name="adj" fmla="val 50000"/>
            </a:avLst>
          </a:prstGeom>
          <a:solidFill>
            <a:srgbClr val="4F46E5"/>
          </a:solidFill>
          <a:ln w="12700">
            <a:solidFill>
              <a:srgbClr val="4F46E5"/>
            </a:solidFill>
            <a:prstDash val="solid"/>
          </a:ln>
        </p:spPr>
      </p:sp>
      <p:sp>
        <p:nvSpPr>
          <p:cNvPr id="10" name="Text 8"/>
          <p:cNvSpPr txBox="1"/>
          <p:nvPr/>
        </p:nvSpPr>
        <p:spPr>
          <a:xfrm>
            <a:off x="3593592" y="1490472"/>
            <a:ext cx="2240280" cy="640080"/>
          </a:xfrm>
          <a:prstGeom prst="rect">
            <a:avLst/>
          </a:prstGeom>
          <a:noFill/>
          <a:ln/>
        </p:spPr>
        <p:txBody>
          <a:bodyPr wrap="square" lIns="0" tIns="0" rIns="0" bIns="0" rtlCol="0" anchor="ctr"/>
          <a:lstStyle/>
          <a:p>
            <a:pPr indent="0" marL="0">
              <a:buNone/>
            </a:pPr>
            <a:r>
              <a:rPr lang="en-US" sz="3200" b="1" dirty="0">
                <a:solidFill>
                  <a:srgbClr val="4F46E5"/>
                </a:solidFill>
              </a:rPr>
              <a:t>240 N</a:t>
            </a:r>
            <a:endParaRPr lang="en-US" sz="3200" dirty="0"/>
          </a:p>
        </p:txBody>
      </p:sp>
      <p:sp>
        <p:nvSpPr>
          <p:cNvPr id="11" name="Text 9"/>
          <p:cNvSpPr txBox="1"/>
          <p:nvPr/>
        </p:nvSpPr>
        <p:spPr>
          <a:xfrm>
            <a:off x="3593592" y="2112264"/>
            <a:ext cx="2240280" cy="274320"/>
          </a:xfrm>
          <a:prstGeom prst="rect">
            <a:avLst/>
          </a:prstGeom>
          <a:noFill/>
          <a:ln/>
        </p:spPr>
        <p:txBody>
          <a:bodyPr wrap="square" lIns="0" tIns="0" rIns="0" bIns="0" rtlCol="0" anchor="ctr"/>
          <a:lstStyle/>
          <a:p>
            <a:pPr indent="0" marL="0">
              <a:buNone/>
            </a:pPr>
            <a:r>
              <a:rPr lang="en-US" sz="1300" b="1" dirty="0">
                <a:solidFill>
                  <a:schemeClr val="tx2"/>
                </a:solidFill>
              </a:rPr>
              <a:t>Giá trung vị</a:t>
            </a:r>
            <a:endParaRPr lang="en-US" sz="1300" dirty="0"/>
          </a:p>
        </p:txBody>
      </p:sp>
      <p:sp>
        <p:nvSpPr>
          <p:cNvPr id="12" name="Text 10"/>
          <p:cNvSpPr txBox="1"/>
          <p:nvPr/>
        </p:nvSpPr>
        <p:spPr>
          <a:xfrm>
            <a:off x="3593592" y="2359152"/>
            <a:ext cx="2240280" cy="292608"/>
          </a:xfrm>
          <a:prstGeom prst="rect">
            <a:avLst/>
          </a:prstGeom>
          <a:noFill/>
          <a:ln/>
        </p:spPr>
        <p:txBody>
          <a:bodyPr wrap="square" lIns="0" tIns="0" rIns="0" bIns="0" rtlCol="0" anchor="ctr"/>
          <a:lstStyle/>
          <a:p>
            <a:pPr indent="0" marL="0">
              <a:buNone/>
            </a:pPr>
            <a:r>
              <a:rPr lang="en-US" sz="1050" dirty="0">
                <a:solidFill>
                  <a:srgbClr val="6B7280"/>
                </a:solidFill>
              </a:rPr>
              <a:t>trung bình 313 nghìn</a:t>
            </a:r>
            <a:endParaRPr lang="en-US" sz="1050" dirty="0"/>
          </a:p>
        </p:txBody>
      </p:sp>
      <p:sp>
        <p:nvSpPr>
          <p:cNvPr id="13" name="card-6.72-1.45"/>
          <p:cNvSpPr/>
          <p:nvPr/>
        </p:nvSpPr>
        <p:spPr>
          <a:xfrm>
            <a:off x="6144768" y="1325880"/>
            <a:ext cx="2606040" cy="1417320"/>
          </a:xfrm>
          <a:prstGeom prst="roundRect">
            <a:avLst>
              <a:gd name="adj" fmla="val 6452"/>
            </a:avLst>
          </a:prstGeom>
          <a:solidFill>
            <a:schemeClr val="bg2"/>
          </a:solidFill>
          <a:ln w="12700">
            <a:solidFill>
              <a:srgbClr val="E3E6F0"/>
            </a:solidFill>
            <a:prstDash val="solid"/>
          </a:ln>
        </p:spPr>
      </p:sp>
      <p:sp>
        <p:nvSpPr>
          <p:cNvPr id="14" name="tint-6.72"/>
          <p:cNvSpPr/>
          <p:nvPr/>
        </p:nvSpPr>
        <p:spPr>
          <a:xfrm>
            <a:off x="6144768" y="1325880"/>
            <a:ext cx="54864" cy="1417320"/>
          </a:xfrm>
          <a:prstGeom prst="roundRect">
            <a:avLst>
              <a:gd name="adj" fmla="val 50000"/>
            </a:avLst>
          </a:prstGeom>
          <a:solidFill>
            <a:srgbClr val="1BAF7A"/>
          </a:solidFill>
          <a:ln w="12700">
            <a:solidFill>
              <a:srgbClr val="1BAF7A"/>
            </a:solidFill>
            <a:prstDash val="solid"/>
          </a:ln>
        </p:spPr>
      </p:sp>
      <p:sp>
        <p:nvSpPr>
          <p:cNvPr id="15" name="Text 13"/>
          <p:cNvSpPr txBox="1"/>
          <p:nvPr/>
        </p:nvSpPr>
        <p:spPr>
          <a:xfrm>
            <a:off x="6373368" y="1490472"/>
            <a:ext cx="2240280" cy="640080"/>
          </a:xfrm>
          <a:prstGeom prst="rect">
            <a:avLst/>
          </a:prstGeom>
          <a:noFill/>
          <a:ln/>
        </p:spPr>
        <p:txBody>
          <a:bodyPr wrap="square" lIns="0" tIns="0" rIns="0" bIns="0" rtlCol="0" anchor="ctr"/>
          <a:lstStyle/>
          <a:p>
            <a:pPr indent="0" marL="0">
              <a:buNone/>
            </a:pPr>
            <a:r>
              <a:rPr lang="en-US" sz="3200" b="1" dirty="0">
                <a:solidFill>
                  <a:srgbClr val="1BAF7A"/>
                </a:solidFill>
              </a:rPr>
              <a:t>89,9%</a:t>
            </a:r>
            <a:endParaRPr lang="en-US" sz="3200" dirty="0"/>
          </a:p>
        </p:txBody>
      </p:sp>
      <p:sp>
        <p:nvSpPr>
          <p:cNvPr id="16" name="Text 14"/>
          <p:cNvSpPr txBox="1"/>
          <p:nvPr/>
        </p:nvSpPr>
        <p:spPr>
          <a:xfrm>
            <a:off x="6373368" y="2112264"/>
            <a:ext cx="2240280" cy="274320"/>
          </a:xfrm>
          <a:prstGeom prst="rect">
            <a:avLst/>
          </a:prstGeom>
          <a:noFill/>
          <a:ln/>
        </p:spPr>
        <p:txBody>
          <a:bodyPr wrap="square" lIns="0" tIns="0" rIns="0" bIns="0" rtlCol="0" anchor="ctr"/>
          <a:lstStyle/>
          <a:p>
            <a:pPr indent="0" marL="0">
              <a:buNone/>
            </a:pPr>
            <a:r>
              <a:rPr lang="en-US" sz="1300" b="1" dirty="0">
                <a:solidFill>
                  <a:schemeClr val="tx2"/>
                </a:solidFill>
              </a:rPr>
              <a:t>Đánh giá là 5 sao</a:t>
            </a:r>
            <a:endParaRPr lang="en-US" sz="1300" dirty="0"/>
          </a:p>
        </p:txBody>
      </p:sp>
      <p:sp>
        <p:nvSpPr>
          <p:cNvPr id="17" name="Text 15"/>
          <p:cNvSpPr txBox="1"/>
          <p:nvPr/>
        </p:nvSpPr>
        <p:spPr>
          <a:xfrm>
            <a:off x="6373368" y="2359152"/>
            <a:ext cx="2240280" cy="292608"/>
          </a:xfrm>
          <a:prstGeom prst="rect">
            <a:avLst/>
          </a:prstGeom>
          <a:noFill/>
          <a:ln/>
        </p:spPr>
        <p:txBody>
          <a:bodyPr wrap="square" lIns="0" tIns="0" rIns="0" bIns="0" rtlCol="0" anchor="ctr"/>
          <a:lstStyle/>
          <a:p>
            <a:pPr indent="0" marL="0">
              <a:buNone/>
            </a:pPr>
            <a:r>
              <a:rPr lang="en-US" sz="1050" dirty="0">
                <a:solidFill>
                  <a:srgbClr val="6B7280"/>
                </a:solidFill>
              </a:rPr>
              <a:t>điểm TB 4,90</a:t>
            </a:r>
            <a:endParaRPr lang="en-US" sz="1050" dirty="0"/>
          </a:p>
        </p:txBody>
      </p:sp>
      <p:sp>
        <p:nvSpPr>
          <p:cNvPr id="18" name="card-9.75-1.45"/>
          <p:cNvSpPr/>
          <p:nvPr/>
        </p:nvSpPr>
        <p:spPr>
          <a:xfrm>
            <a:off x="8915400" y="1325880"/>
            <a:ext cx="2651760" cy="1417320"/>
          </a:xfrm>
          <a:prstGeom prst="roundRect">
            <a:avLst>
              <a:gd name="adj" fmla="val 6452"/>
            </a:avLst>
          </a:prstGeom>
          <a:solidFill>
            <a:schemeClr val="bg2"/>
          </a:solidFill>
          <a:ln w="12700">
            <a:solidFill>
              <a:srgbClr val="E3E6F0"/>
            </a:solidFill>
            <a:prstDash val="solid"/>
          </a:ln>
        </p:spPr>
      </p:sp>
      <p:sp>
        <p:nvSpPr>
          <p:cNvPr id="19" name="tint-9.75"/>
          <p:cNvSpPr/>
          <p:nvPr/>
        </p:nvSpPr>
        <p:spPr>
          <a:xfrm>
            <a:off x="8915400" y="1325880"/>
            <a:ext cx="54864" cy="1417320"/>
          </a:xfrm>
          <a:prstGeom prst="roundRect">
            <a:avLst>
              <a:gd name="adj" fmla="val 50000"/>
            </a:avLst>
          </a:prstGeom>
          <a:solidFill>
            <a:srgbClr val="2A78D6"/>
          </a:solidFill>
          <a:ln w="12700">
            <a:solidFill>
              <a:srgbClr val="2A78D6"/>
            </a:solidFill>
            <a:prstDash val="solid"/>
          </a:ln>
        </p:spPr>
      </p:sp>
      <p:sp>
        <p:nvSpPr>
          <p:cNvPr id="20" name="Text 18"/>
          <p:cNvSpPr txBox="1"/>
          <p:nvPr/>
        </p:nvSpPr>
        <p:spPr>
          <a:xfrm>
            <a:off x="9144000" y="1490472"/>
            <a:ext cx="2286000" cy="640080"/>
          </a:xfrm>
          <a:prstGeom prst="rect">
            <a:avLst/>
          </a:prstGeom>
          <a:noFill/>
          <a:ln/>
        </p:spPr>
        <p:txBody>
          <a:bodyPr wrap="square" lIns="0" tIns="0" rIns="0" bIns="0" rtlCol="0" anchor="ctr"/>
          <a:lstStyle/>
          <a:p>
            <a:pPr indent="0" marL="0">
              <a:buNone/>
            </a:pPr>
            <a:r>
              <a:rPr lang="en-US" sz="3200" b="1" dirty="0">
                <a:solidFill>
                  <a:srgbClr val="2A78D6"/>
                </a:solidFill>
              </a:rPr>
              <a:t>418</a:t>
            </a:r>
            <a:endParaRPr lang="en-US" sz="3200" dirty="0"/>
          </a:p>
        </p:txBody>
      </p:sp>
      <p:sp>
        <p:nvSpPr>
          <p:cNvPr id="21" name="Text 19"/>
          <p:cNvSpPr txBox="1"/>
          <p:nvPr/>
        </p:nvSpPr>
        <p:spPr>
          <a:xfrm>
            <a:off x="9144000" y="2112264"/>
            <a:ext cx="2286000" cy="274320"/>
          </a:xfrm>
          <a:prstGeom prst="rect">
            <a:avLst/>
          </a:prstGeom>
          <a:noFill/>
          <a:ln/>
        </p:spPr>
        <p:txBody>
          <a:bodyPr wrap="square" lIns="0" tIns="0" rIns="0" bIns="0" rtlCol="0" anchor="ctr"/>
          <a:lstStyle/>
          <a:p>
            <a:pPr indent="0" marL="0">
              <a:buNone/>
            </a:pPr>
            <a:r>
              <a:rPr lang="en-US" sz="1300" b="1" dirty="0">
                <a:solidFill>
                  <a:schemeClr val="tx2"/>
                </a:solidFill>
              </a:rPr>
              <a:t>Thương hiệu</a:t>
            </a:r>
            <a:endParaRPr lang="en-US" sz="1300" dirty="0"/>
          </a:p>
        </p:txBody>
      </p:sp>
      <p:sp>
        <p:nvSpPr>
          <p:cNvPr id="22" name="Text 20"/>
          <p:cNvSpPr txBox="1"/>
          <p:nvPr/>
        </p:nvSpPr>
        <p:spPr>
          <a:xfrm>
            <a:off x="9144000" y="2359152"/>
            <a:ext cx="2286000" cy="292608"/>
          </a:xfrm>
          <a:prstGeom prst="rect">
            <a:avLst/>
          </a:prstGeom>
          <a:noFill/>
          <a:ln/>
        </p:spPr>
        <p:txBody>
          <a:bodyPr wrap="square" lIns="0" tIns="0" rIns="0" bIns="0" rtlCol="0" anchor="ctr"/>
          <a:lstStyle/>
          <a:p>
            <a:pPr indent="0" marL="0">
              <a:buNone/>
            </a:pPr>
            <a:r>
              <a:rPr lang="en-US" sz="1050" dirty="0">
                <a:solidFill>
                  <a:srgbClr val="6B7280"/>
                </a:solidFill>
              </a:rPr>
              <a:t>top 8 chỉ chiếm 21,5%</a:t>
            </a:r>
            <a:endParaRPr lang="en-US" sz="1050" dirty="0"/>
          </a:p>
        </p:txBody>
      </p:sp>
      <p:sp>
        <p:nvSpPr>
          <p:cNvPr id="23" name="ins0"/>
          <p:cNvSpPr/>
          <p:nvPr/>
        </p:nvSpPr>
        <p:spPr>
          <a:xfrm>
            <a:off x="640080" y="3063240"/>
            <a:ext cx="274320" cy="274320"/>
          </a:xfrm>
          <a:prstGeom prst="ellipse">
            <a:avLst/>
          </a:prstGeom>
          <a:solidFill>
            <a:srgbClr val="4F46E5"/>
          </a:solidFill>
          <a:ln w="12700">
            <a:solidFill>
              <a:srgbClr val="4F46E5"/>
            </a:solidFill>
            <a:prstDash val="solid"/>
          </a:ln>
        </p:spPr>
      </p:sp>
      <p:sp>
        <p:nvSpPr>
          <p:cNvPr id="24" name="Text 22"/>
          <p:cNvSpPr txBox="1"/>
          <p:nvPr/>
        </p:nvSpPr>
        <p:spPr>
          <a:xfrm>
            <a:off x="1051560" y="3017520"/>
            <a:ext cx="10424160" cy="274320"/>
          </a:xfrm>
          <a:prstGeom prst="rect">
            <a:avLst/>
          </a:prstGeom>
          <a:noFill/>
          <a:ln/>
        </p:spPr>
        <p:txBody>
          <a:bodyPr wrap="square" lIns="0" tIns="0" rIns="0" bIns="0" rtlCol="0" anchor="ctr"/>
          <a:lstStyle/>
          <a:p>
            <a:pPr indent="0" marL="0">
              <a:buNone/>
            </a:pPr>
            <a:r>
              <a:rPr lang="en-US" sz="1450" b="1" dirty="0">
                <a:solidFill>
                  <a:schemeClr val="tx2"/>
                </a:solidFill>
              </a:rPr>
              <a:t>Giảm giá là trạng thái bình thường, không phải ngoại lệ</a:t>
            </a:r>
            <a:endParaRPr lang="en-US" sz="1450" dirty="0"/>
          </a:p>
        </p:txBody>
      </p:sp>
      <p:sp>
        <p:nvSpPr>
          <p:cNvPr id="25" name="Text 23"/>
          <p:cNvSpPr txBox="1"/>
          <p:nvPr/>
        </p:nvSpPr>
        <p:spPr>
          <a:xfrm>
            <a:off x="1051560" y="3291840"/>
            <a:ext cx="10424160" cy="548640"/>
          </a:xfrm>
          <a:prstGeom prst="rect">
            <a:avLst/>
          </a:prstGeom>
          <a:noFill/>
          <a:ln/>
        </p:spPr>
        <p:txBody>
          <a:bodyPr wrap="square" lIns="0" tIns="0" rIns="0" bIns="0" rtlCol="0" anchor="ctr"/>
          <a:lstStyle/>
          <a:p>
            <a:pPr indent="0" marL="0">
              <a:buNone/>
            </a:pPr>
            <a:r>
              <a:rPr lang="en-US" sz="1200" dirty="0">
                <a:solidFill>
                  <a:srgbClr val="4B5163"/>
                </a:solidFill>
              </a:rPr>
              <a:t>Ba phần tư sản phẩm đang giảm giá. Hasaki khuyến mãi 97,2% sản phẩm, Guardian chỉ 52,2%. Giá niêm yết ở nhiều nơi mang tính tham chiếu hơn là giá bán thật.</a:t>
            </a:r>
            <a:endParaRPr lang="en-US" sz="1200" dirty="0"/>
          </a:p>
        </p:txBody>
      </p:sp>
      <p:sp>
        <p:nvSpPr>
          <p:cNvPr id="26" name="ins1"/>
          <p:cNvSpPr/>
          <p:nvPr/>
        </p:nvSpPr>
        <p:spPr>
          <a:xfrm>
            <a:off x="640080" y="3931920"/>
            <a:ext cx="274320" cy="274320"/>
          </a:xfrm>
          <a:prstGeom prst="ellipse">
            <a:avLst/>
          </a:prstGeom>
          <a:solidFill>
            <a:srgbClr val="4F46E5"/>
          </a:solidFill>
          <a:ln w="12700">
            <a:solidFill>
              <a:srgbClr val="4F46E5"/>
            </a:solidFill>
            <a:prstDash val="solid"/>
          </a:ln>
        </p:spPr>
      </p:sp>
      <p:sp>
        <p:nvSpPr>
          <p:cNvPr id="27" name="Text 25"/>
          <p:cNvSpPr txBox="1"/>
          <p:nvPr/>
        </p:nvSpPr>
        <p:spPr>
          <a:xfrm>
            <a:off x="1051560" y="3886200"/>
            <a:ext cx="10424160" cy="274320"/>
          </a:xfrm>
          <a:prstGeom prst="rect">
            <a:avLst/>
          </a:prstGeom>
          <a:noFill/>
          <a:ln/>
        </p:spPr>
        <p:txBody>
          <a:bodyPr wrap="square" lIns="0" tIns="0" rIns="0" bIns="0" rtlCol="0" anchor="ctr"/>
          <a:lstStyle/>
          <a:p>
            <a:pPr indent="0" marL="0">
              <a:buNone/>
            </a:pPr>
            <a:r>
              <a:rPr lang="en-US" sz="1450" b="1" dirty="0">
                <a:solidFill>
                  <a:schemeClr val="tx2"/>
                </a:solidFill>
              </a:rPr>
              <a:t>Thị trường phân mảnh, không ai thống trị</a:t>
            </a:r>
            <a:endParaRPr lang="en-US" sz="1450" dirty="0"/>
          </a:p>
        </p:txBody>
      </p:sp>
      <p:sp>
        <p:nvSpPr>
          <p:cNvPr id="28" name="Text 26"/>
          <p:cNvSpPr txBox="1"/>
          <p:nvPr/>
        </p:nvSpPr>
        <p:spPr>
          <a:xfrm>
            <a:off x="1051560" y="4160520"/>
            <a:ext cx="10424160" cy="548640"/>
          </a:xfrm>
          <a:prstGeom prst="rect">
            <a:avLst/>
          </a:prstGeom>
          <a:noFill/>
          <a:ln/>
        </p:spPr>
        <p:txBody>
          <a:bodyPr wrap="square" lIns="0" tIns="0" rIns="0" bIns="0" rtlCol="0" anchor="ctr"/>
          <a:lstStyle/>
          <a:p>
            <a:pPr indent="0" marL="0">
              <a:buNone/>
            </a:pPr>
            <a:r>
              <a:rPr lang="en-US" sz="1200" dirty="0">
                <a:solidFill>
                  <a:srgbClr val="4B5163"/>
                </a:solidFill>
              </a:rPr>
              <a:t>418 thương hiệu nhưng top 8 chỉ chiếm 21,5% số sản phẩm. Cocoon dẫn đầu cũng chỉ có 5,3%.</a:t>
            </a:r>
            <a:endParaRPr lang="en-US" sz="1200" dirty="0"/>
          </a:p>
        </p:txBody>
      </p:sp>
      <p:sp>
        <p:nvSpPr>
          <p:cNvPr id="29" name="ins2"/>
          <p:cNvSpPr/>
          <p:nvPr/>
        </p:nvSpPr>
        <p:spPr>
          <a:xfrm>
            <a:off x="640080" y="4800600"/>
            <a:ext cx="274320" cy="274320"/>
          </a:xfrm>
          <a:prstGeom prst="ellipse">
            <a:avLst/>
          </a:prstGeom>
          <a:solidFill>
            <a:srgbClr val="4F46E5"/>
          </a:solidFill>
          <a:ln w="12700">
            <a:solidFill>
              <a:srgbClr val="4F46E5"/>
            </a:solidFill>
            <a:prstDash val="solid"/>
          </a:ln>
        </p:spPr>
      </p:sp>
      <p:sp>
        <p:nvSpPr>
          <p:cNvPr id="30" name="Text 28"/>
          <p:cNvSpPr txBox="1"/>
          <p:nvPr/>
        </p:nvSpPr>
        <p:spPr>
          <a:xfrm>
            <a:off x="1051560" y="4754880"/>
            <a:ext cx="10424160" cy="274320"/>
          </a:xfrm>
          <a:prstGeom prst="rect">
            <a:avLst/>
          </a:prstGeom>
          <a:noFill/>
          <a:ln/>
        </p:spPr>
        <p:txBody>
          <a:bodyPr wrap="square" lIns="0" tIns="0" rIns="0" bIns="0" rtlCol="0" anchor="ctr"/>
          <a:lstStyle/>
          <a:p>
            <a:pPr indent="0" marL="0">
              <a:buNone/>
            </a:pPr>
            <a:r>
              <a:rPr lang="en-US" sz="1450" b="1" dirty="0">
                <a:solidFill>
                  <a:schemeClr val="tx2"/>
                </a:solidFill>
              </a:rPr>
              <a:t>Điểm đánh giá gần như mất khả năng phân biệt</a:t>
            </a:r>
            <a:endParaRPr lang="en-US" sz="1450" dirty="0"/>
          </a:p>
        </p:txBody>
      </p:sp>
      <p:sp>
        <p:nvSpPr>
          <p:cNvPr id="31" name="Text 29"/>
          <p:cNvSpPr txBox="1"/>
          <p:nvPr/>
        </p:nvSpPr>
        <p:spPr>
          <a:xfrm>
            <a:off x="1051560" y="5029200"/>
            <a:ext cx="10424160" cy="548640"/>
          </a:xfrm>
          <a:prstGeom prst="rect">
            <a:avLst/>
          </a:prstGeom>
          <a:noFill/>
          <a:ln/>
        </p:spPr>
        <p:txBody>
          <a:bodyPr wrap="square" lIns="0" tIns="0" rIns="0" bIns="0" rtlCol="0" anchor="ctr"/>
          <a:lstStyle/>
          <a:p>
            <a:pPr indent="0" marL="0">
              <a:buNone/>
            </a:pPr>
            <a:r>
              <a:rPr lang="en-US" sz="1200" dirty="0">
                <a:solidFill>
                  <a:srgbClr val="4B5163"/>
                </a:solidFill>
              </a:rPr>
              <a:t>Gần 90% đánh giá là 5 sao nên không dùng để so sánh chất lượng được. 65,5% sản phẩm còn chưa có rating nào.</a:t>
            </a:r>
            <a:endParaRPr lang="en-US" sz="1200" dirty="0"/>
          </a:p>
        </p:txBody>
      </p:sp>
      <p:sp>
        <p:nvSpPr>
          <p:cNvPr id="32" name="Text 30"/>
          <p:cNvSpPr txBox="1"/>
          <p:nvPr/>
        </p:nvSpPr>
        <p:spPr>
          <a:xfrm>
            <a:off x="594360" y="5623560"/>
            <a:ext cx="10972800" cy="274320"/>
          </a:xfrm>
          <a:prstGeom prst="rect">
            <a:avLst/>
          </a:prstGeom>
          <a:noFill/>
          <a:ln/>
        </p:spPr>
        <p:txBody>
          <a:bodyPr wrap="square" lIns="0" tIns="0" rIns="0" bIns="0" rtlCol="0" anchor="ctr"/>
          <a:lstStyle/>
          <a:p>
            <a:pPr indent="0" marL="0">
              <a:buNone/>
            </a:pPr>
            <a:r>
              <a:rPr lang="en-US" sz="1200" i="1" dirty="0">
                <a:solidFill>
                  <a:srgbClr val="6B7280"/>
                </a:solidFill>
              </a:rPr>
              <a:t>Giá lệch phải mạnh nên nhóm dùng trung vị thay cho trung bình khi mô tả mặt bằng giá.</a:t>
            </a:r>
            <a:endParaRPr lang="en-US" sz="1200" dirty="0"/>
          </a:p>
        </p:txBody>
      </p:sp>
      <p:sp>
        <p:nvSpPr>
          <p:cNvPr id="34" name="Text 0"/>
          <p:cNvSpPr/>
          <p:nvPr>
            <p:ph idx="101" type="body" hasCustomPrompt="1"/>
          </p:nvPr>
        </p:nvSpPr>
        <p:spPr>
          <a:xfrm>
            <a:off x="594360" y="1234440"/>
            <a:ext cx="10972800" cy="4937760"/>
          </a:xfrm>
          <a:prstGeom prst="rect">
            <a:avLst/>
          </a:prstGeom>
          <a:noFill/>
          <a:ln/>
        </p:spPr>
        <p:txBody>
          <a:bodyPr wrap="square" rtlCol="0"/>
          <a:lstStyle/>
          <a:p>
            <a:pPr algn="l" indent="0" marL="0">
              <a:buNone/>
            </a:pPr>
            <a:endParaRPr lang="en-US" sz="1500" dirty="0"/>
          </a:p>
        </p:txBody>
      </p:sp>
      <p:sp>
        <p:nvSpPr>
          <p:cNvPr id="35" name="Text 1"/>
          <p:cNvSpPr/>
          <p:nvPr>
            <p:ph idx="103" hasCustomPrompt="1"/>
          </p:nvPr>
        </p:nvSpPr>
        <p:spPr>
          <a:xfrm>
            <a:off x="11247120" y="6355080"/>
            <a:ext cx="45720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731520"/>
          </a:xfrm>
          <a:prstGeom prst="rect">
            <a:avLst/>
          </a:prstGeom>
          <a:noFill/>
          <a:ln/>
        </p:spPr>
        <p:txBody>
          <a:bodyPr wrap="square" rtlCol="0"/>
          <a:lstStyle/>
          <a:p>
            <a:pPr algn="l" indent="0" marL="0">
              <a:buNone/>
            </a:pPr>
            <a:r>
              <a:rPr lang="en-US" sz="3000" b="1" dirty="0">
                <a:solidFill>
                  <a:schemeClr val="tx2"/>
                </a:solidFill>
              </a:rPr>
              <a:t>Đối chiếu với yêu cầu đề bài</a:t>
            </a:r>
            <a:endParaRPr lang="en-US" sz="3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94360" y="1325880"/>
          <a:ext cx="10972800" cy="914400"/>
        </p:xfrm>
        <a:graphic>
          <a:graphicData uri="http://schemas.openxmlformats.org/drawingml/2006/table">
            <a:tbl>
              <a:tblPr/>
              <a:tblGrid>
                <a:gridCol w="4389120"/>
                <a:gridCol w="5486400"/>
                <a:gridCol w="1097280"/>
              </a:tblGrid>
              <a:tr h="365760">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Yêu cầu</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Kết quả thực hiện</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c>
                  <a:txBody>
                    <a:bodyPr/>
                    <a:lstStyle/>
                    <a:p>
                      <a:pPr indent="0" marL="0">
                        <a:buNone/>
                      </a:pPr>
                      <a:r>
                        <a:rPr lang="en-US" sz="1200" b="1" dirty="0">
                          <a:solidFill>
                            <a:srgbClr val="1E2142"/>
                          </a:solidFill>
                          <a:latin typeface="Calibri" pitchFamily="34" charset="0"/>
                          <a:ea typeface="Calibri" pitchFamily="34" charset="-122"/>
                          <a:cs typeface="Calibri" pitchFamily="34" charset="-120"/>
                        </a:rPr>
                        <a:t>Trạng thái</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solidFill>
                      <a:srgbClr val="E7E9F8"/>
                    </a:solidFill>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Thiết kế mô hình quan hệ, chọn hệ quản trị CSDL</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SQLite — 17 bảng, 2 view, đầy đủ ràng buộc</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Đạt</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Làm sạch, chuẩn hóa, có chương trình hỗ trợ</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build_database.py + verify_database.py kiểm chứng độc lập</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Đạt</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Dashboard, min – max, biểu đồ đa dạng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9 màn hình, 8 loại biểu đồ, mục min – max riêng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Đạt</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Học không giám sát</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K-Means và Isolation Forest</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Đạt</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Học có giám sát dự đoán giá trị mục tiêu</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Hồi quy giá và phân loại phân khúc, mỗi bài so sánh 4 mô hình</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Đạt</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Website tích hợp, đăng nhập và phân quyền</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9 màn hình, 2 vai trò, kiểm tra hai lớp</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Đạt</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Công cụ thu thập đa nguồn (điểm cộng)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5 nguồn, chạy từ website, có lịch tự động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Đạt</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Tìm kiếm và lọc (điểm cộng)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Tìm không dấu, 5 bộ lọc kết hợp</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Đạt</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CRUD dữ liệu quan trọng (điểm cộng)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Thêm, sửa, xóa; sửa giá giữ lịch sử</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Đạt</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r h="36576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Kết xuất báo cáo ra tập tin (điểm cộng)</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CSV ở 4 màn hình và in hoặc lưu PDF</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Đạt</a:t>
                      </a:r>
                      <a:endParaRPr lang="en-US" sz="1200" dirty="0">
                        <a:latin typeface="Calibri" charset="0"/>
                        <a:ea typeface="Calibri" charset="0"/>
                        <a:cs typeface="Calibri" charset="0"/>
                      </a:endParaRPr>
                    </a:p>
                  </a:txBody>
                  <a:tcPr marL="50800" marR="50800" marT="50800" marB="50800" anchor="ctr">
                    <a:lnL w="6350" cap="flat" cmpd="sng" algn="ctr">
                      <a:solidFill>
                        <a:srgbClr val="D8DCE8"/>
                      </a:solidFill>
                      <a:prstDash val="solid"/>
                      <a:round/>
                      <a:headEnd type="none" w="med" len="med"/>
                      <a:tailEnd type="none" w="med" len="med"/>
                    </a:lnL>
                    <a:lnR w="6350" cap="flat" cmpd="sng" algn="ctr">
                      <a:solidFill>
                        <a:srgbClr val="D8DCE8"/>
                      </a:solidFill>
                      <a:prstDash val="solid"/>
                      <a:round/>
                      <a:headEnd type="none" w="med" len="med"/>
                      <a:tailEnd type="none" w="med" len="med"/>
                    </a:lnR>
                    <a:lnT w="6350" cap="flat" cmpd="sng" algn="ctr">
                      <a:solidFill>
                        <a:srgbClr val="D8DCE8"/>
                      </a:solidFill>
                      <a:prstDash val="solid"/>
                      <a:round/>
                      <a:headEnd type="none" w="med" len="med"/>
                      <a:tailEnd type="none" w="med" len="med"/>
                    </a:lnT>
                    <a:lnB w="6350" cap="flat" cmpd="sng" algn="ctr">
                      <a:solidFill>
                        <a:srgbClr val="D8DCE8"/>
                      </a:solidFill>
                      <a:prstDash val="solid"/>
                      <a:round/>
                      <a:headEnd type="none" w="med" len="med"/>
                      <a:tailEnd type="none" w="med" len="med"/>
                    </a:lnB>
                  </a:tcPr>
                </a:tc>
              </a:tr>
            </a:tbl>
          </a:graphicData>
        </a:graphic>
      </p:graphicFrame>
      <p:sp>
        <p:nvSpPr>
          <p:cNvPr id="4" name="Text 1"/>
          <p:cNvSpPr txBox="1"/>
          <p:nvPr/>
        </p:nvSpPr>
        <p:spPr>
          <a:xfrm>
            <a:off x="594360" y="5577840"/>
            <a:ext cx="10972800" cy="274320"/>
          </a:xfrm>
          <a:prstGeom prst="rect">
            <a:avLst/>
          </a:prstGeom>
          <a:noFill/>
          <a:ln/>
        </p:spPr>
        <p:txBody>
          <a:bodyPr wrap="square" lIns="0" tIns="0" rIns="0" bIns="0" rtlCol="0" anchor="ctr"/>
          <a:lstStyle/>
          <a:p>
            <a:pPr indent="0" marL="0">
              <a:buNone/>
            </a:pPr>
            <a:r>
              <a:rPr lang="en-US" sz="1250" b="1" dirty="0">
                <a:solidFill>
                  <a:srgbClr val="1BAF7A"/>
                </a:solidFill>
              </a:rPr>
              <a:t>Bốn chức năng điểm cộng của đề bài đều đã thực hiện.</a:t>
            </a:r>
            <a:endParaRPr lang="en-US" sz="1250" dirty="0"/>
          </a:p>
        </p:txBody>
      </p:sp>
      <p:sp>
        <p:nvSpPr>
          <p:cNvPr id="6" name="Text 0"/>
          <p:cNvSpPr/>
          <p:nvPr>
            <p:ph idx="101" type="body" hasCustomPrompt="1"/>
          </p:nvPr>
        </p:nvSpPr>
        <p:spPr>
          <a:xfrm>
            <a:off x="594360" y="1234440"/>
            <a:ext cx="10972800" cy="4937760"/>
          </a:xfrm>
          <a:prstGeom prst="rect">
            <a:avLst/>
          </a:prstGeom>
          <a:noFill/>
          <a:ln/>
        </p:spPr>
        <p:txBody>
          <a:bodyPr wrap="square" rtlCol="0"/>
          <a:lstStyle/>
          <a:p>
            <a:pPr algn="l" indent="0" marL="0">
              <a:buNone/>
            </a:pPr>
            <a:endParaRPr lang="en-US" sz="1500" dirty="0"/>
          </a:p>
        </p:txBody>
      </p:sp>
      <p:sp>
        <p:nvSpPr>
          <p:cNvPr id="7" name="Text 1"/>
          <p:cNvSpPr/>
          <p:nvPr>
            <p:ph idx="103" hasCustomPrompt="1"/>
          </p:nvPr>
        </p:nvSpPr>
        <p:spPr>
          <a:xfrm>
            <a:off x="11247120" y="6355080"/>
            <a:ext cx="45720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94360" y="384048"/>
            <a:ext cx="10972800" cy="731520"/>
          </a:xfrm>
          <a:prstGeom prst="rect">
            <a:avLst/>
          </a:prstGeom>
          <a:noFill/>
          <a:ln/>
        </p:spPr>
        <p:txBody>
          <a:bodyPr wrap="square" rtlCol="0"/>
          <a:lstStyle/>
          <a:p>
            <a:pPr algn="l" indent="0" marL="0">
              <a:buNone/>
            </a:pPr>
            <a:r>
              <a:rPr lang="en-US" sz="3000" b="1" dirty="0">
                <a:solidFill>
                  <a:schemeClr val="tx2"/>
                </a:solidFill>
              </a:rPr>
              <a:t>Hạn chế và hướng phát triển</a:t>
            </a:r>
            <a:endParaRPr lang="en-US" sz="3000" dirty="0"/>
          </a:p>
        </p:txBody>
      </p:sp>
      <p:sp>
        <p:nvSpPr>
          <p:cNvPr id="3" name="card-0.65-1.45"/>
          <p:cNvSpPr/>
          <p:nvPr/>
        </p:nvSpPr>
        <p:spPr>
          <a:xfrm>
            <a:off x="594360" y="1325880"/>
            <a:ext cx="5394960" cy="4023360"/>
          </a:xfrm>
          <a:prstGeom prst="roundRect">
            <a:avLst>
              <a:gd name="adj" fmla="val 2273"/>
            </a:avLst>
          </a:prstGeom>
          <a:solidFill>
            <a:srgbClr val="FDF2F4"/>
          </a:solidFill>
          <a:ln w="12700">
            <a:solidFill>
              <a:srgbClr val="F7D4DC"/>
            </a:solidFill>
            <a:prstDash val="solid"/>
          </a:ln>
        </p:spPr>
      </p:sp>
      <p:sp>
        <p:nvSpPr>
          <p:cNvPr id="4" name="Text 2"/>
          <p:cNvSpPr txBox="1"/>
          <p:nvPr/>
        </p:nvSpPr>
        <p:spPr>
          <a:xfrm>
            <a:off x="868680" y="1508760"/>
            <a:ext cx="4846320" cy="292608"/>
          </a:xfrm>
          <a:prstGeom prst="rect">
            <a:avLst/>
          </a:prstGeom>
          <a:noFill/>
          <a:ln/>
        </p:spPr>
        <p:txBody>
          <a:bodyPr wrap="square" lIns="0" tIns="0" rIns="0" bIns="0" rtlCol="0" anchor="ctr"/>
          <a:lstStyle/>
          <a:p>
            <a:pPr indent="0" marL="0">
              <a:buNone/>
            </a:pPr>
            <a:r>
              <a:rPr lang="en-US" sz="1600" b="1" dirty="0">
                <a:solidFill>
                  <a:srgbClr val="B03A5B"/>
                </a:solidFill>
              </a:rPr>
              <a:t>Hạn chế</a:t>
            </a:r>
            <a:endParaRPr lang="en-US" sz="1600" dirty="0"/>
          </a:p>
        </p:txBody>
      </p:sp>
      <p:sp>
        <p:nvSpPr>
          <p:cNvPr id="5" name="Text 3"/>
          <p:cNvSpPr txBox="1"/>
          <p:nvPr/>
        </p:nvSpPr>
        <p:spPr>
          <a:xfrm>
            <a:off x="868680" y="1874520"/>
            <a:ext cx="4846320" cy="329184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chemeClr val="tx1"/>
                </a:solidFill>
              </a:rPr>
              <a:t>Dữ liệu gốc chỉ trải trên 4 ngày, chưa đủ phân tích biến động theo mùa</a:t>
            </a:r>
            <a:endParaRPr lang="en-US" sz="1450" dirty="0"/>
          </a:p>
          <a:p>
            <a:pPr marL="342900" indent="-342900">
              <a:spcAft>
                <a:spcPts val="800"/>
              </a:spcAft>
              <a:buSzPct val="100000"/>
              <a:buChar char="•"/>
            </a:pPr>
            <a:r>
              <a:rPr lang="en-US" sz="1450" dirty="0">
                <a:solidFill>
                  <a:schemeClr val="tx1"/>
                </a:solidFill>
              </a:rPr>
              <a:t>Guardian và Watsons bật chống bot nên không cập nhật tự động được</a:t>
            </a:r>
            <a:endParaRPr lang="en-US" sz="1450" dirty="0"/>
          </a:p>
          <a:p>
            <a:pPr marL="342900" indent="-342900">
              <a:spcAft>
                <a:spcPts val="800"/>
              </a:spcAft>
              <a:buSzPct val="100000"/>
              <a:buChar char="•"/>
            </a:pPr>
            <a:r>
              <a:rPr lang="en-US" sz="1450" dirty="0">
                <a:solidFill>
                  <a:schemeClr val="tx1"/>
                </a:solidFill>
              </a:rPr>
              <a:t>Thiếu đặc trưng về thành phần, xuất xứ, kênh phân phối nên R² mới đạt 0,54</a:t>
            </a:r>
            <a:endParaRPr lang="en-US" sz="1450" dirty="0"/>
          </a:p>
          <a:p>
            <a:pPr marL="342900" indent="-342900">
              <a:spcAft>
                <a:spcPts val="800"/>
              </a:spcAft>
              <a:buSzPct val="100000"/>
              <a:buChar char="•"/>
            </a:pPr>
            <a:r>
              <a:rPr lang="en-US" sz="1450" dirty="0">
                <a:solidFill>
                  <a:schemeClr val="tx1"/>
                </a:solidFill>
              </a:rPr>
              <a:t>Đối chiếu cùng sản phẩm giữa các nhà bán lẻ mới ở mức ứng viên</a:t>
            </a:r>
            <a:endParaRPr lang="en-US" sz="1450" dirty="0"/>
          </a:p>
          <a:p>
            <a:pPr marL="342900" indent="-342900">
              <a:spcAft>
                <a:spcPts val="800"/>
              </a:spcAft>
              <a:buSzPct val="100000"/>
              <a:buChar char="•"/>
            </a:pPr>
            <a:r>
              <a:rPr lang="en-US" sz="1450" dirty="0">
                <a:solidFill>
                  <a:schemeClr val="tx1"/>
                </a:solidFill>
              </a:rPr>
              <a:t>Phiên đăng nhập lưu trong bộ nhớ; đang dùng server phát triển của Flask</a:t>
            </a:r>
            <a:endParaRPr lang="en-US" sz="1450" dirty="0"/>
          </a:p>
        </p:txBody>
      </p:sp>
      <p:sp>
        <p:nvSpPr>
          <p:cNvPr id="6" name="card-6.75-1.45"/>
          <p:cNvSpPr/>
          <p:nvPr/>
        </p:nvSpPr>
        <p:spPr>
          <a:xfrm>
            <a:off x="6172200" y="1325880"/>
            <a:ext cx="5394960" cy="4023360"/>
          </a:xfrm>
          <a:prstGeom prst="roundRect">
            <a:avLst>
              <a:gd name="adj" fmla="val 2273"/>
            </a:avLst>
          </a:prstGeom>
          <a:solidFill>
            <a:srgbClr val="EEF6EE"/>
          </a:solidFill>
          <a:ln w="12700">
            <a:solidFill>
              <a:srgbClr val="CBE3CB"/>
            </a:solidFill>
            <a:prstDash val="solid"/>
          </a:ln>
        </p:spPr>
      </p:sp>
      <p:sp>
        <p:nvSpPr>
          <p:cNvPr id="7" name="Text 5"/>
          <p:cNvSpPr txBox="1"/>
          <p:nvPr/>
        </p:nvSpPr>
        <p:spPr>
          <a:xfrm>
            <a:off x="6446520" y="1508760"/>
            <a:ext cx="4846320" cy="292608"/>
          </a:xfrm>
          <a:prstGeom prst="rect">
            <a:avLst/>
          </a:prstGeom>
          <a:noFill/>
          <a:ln/>
        </p:spPr>
        <p:txBody>
          <a:bodyPr wrap="square" lIns="0" tIns="0" rIns="0" bIns="0" rtlCol="0" anchor="ctr"/>
          <a:lstStyle/>
          <a:p>
            <a:pPr indent="0" marL="0">
              <a:buNone/>
            </a:pPr>
            <a:r>
              <a:rPr lang="en-US" sz="1600" b="1" dirty="0">
                <a:solidFill>
                  <a:srgbClr val="2C6E2E"/>
                </a:solidFill>
              </a:rPr>
              <a:t>Hướng phát triển</a:t>
            </a:r>
            <a:endParaRPr lang="en-US" sz="1600" dirty="0"/>
          </a:p>
        </p:txBody>
      </p:sp>
      <p:sp>
        <p:nvSpPr>
          <p:cNvPr id="8" name="Text 6"/>
          <p:cNvSpPr txBox="1"/>
          <p:nvPr/>
        </p:nvSpPr>
        <p:spPr>
          <a:xfrm>
            <a:off x="6446520" y="1874520"/>
            <a:ext cx="4846320" cy="3291840"/>
          </a:xfrm>
          <a:prstGeom prst="rect">
            <a:avLst/>
          </a:prstGeom>
          <a:noFill/>
          <a:ln/>
        </p:spPr>
        <p:txBody>
          <a:bodyPr wrap="square" lIns="0" tIns="0" rIns="0" bIns="0" rtlCol="0" anchor="ctr"/>
          <a:lstStyle/>
          <a:p>
            <a:pPr marL="342900" indent="-342900">
              <a:spcAft>
                <a:spcPts val="800"/>
              </a:spcAft>
              <a:buSzPct val="100000"/>
              <a:buChar char="•"/>
            </a:pPr>
            <a:r>
              <a:rPr lang="en-US" sz="1450" dirty="0">
                <a:solidFill>
                  <a:schemeClr val="tx1"/>
                </a:solidFill>
              </a:rPr>
              <a:t>Bật lịch thu thập hằng ngày để tích lũy lịch sử giá đủ dài, từ đó dự báo xu hướng</a:t>
            </a:r>
            <a:endParaRPr lang="en-US" sz="1450" dirty="0"/>
          </a:p>
          <a:p>
            <a:pPr marL="342900" indent="-342900">
              <a:spcAft>
                <a:spcPts val="800"/>
              </a:spcAft>
              <a:buSzPct val="100000"/>
              <a:buChar char="•"/>
            </a:pPr>
            <a:r>
              <a:rPr lang="en-US" sz="1450" dirty="0">
                <a:solidFill>
                  <a:schemeClr val="tx1"/>
                </a:solidFill>
              </a:rPr>
              <a:t>Mở rộng sang nhà bán lẻ cho phép thu thập, hoặc xin phép dùng API chính thức</a:t>
            </a:r>
            <a:endParaRPr lang="en-US" sz="1450" dirty="0"/>
          </a:p>
          <a:p>
            <a:pPr marL="342900" indent="-342900">
              <a:spcAft>
                <a:spcPts val="800"/>
              </a:spcAft>
              <a:buSzPct val="100000"/>
              <a:buChar char="•"/>
            </a:pPr>
            <a:r>
              <a:rPr lang="en-US" sz="1450" dirty="0">
                <a:solidFill>
                  <a:schemeClr val="tx1"/>
                </a:solidFill>
              </a:rPr>
              <a:t>Hoàn thiện đối chiếu sản phẩm để so sánh giá chéo và cảnh báo nơi bán rẻ hơn</a:t>
            </a:r>
            <a:endParaRPr lang="en-US" sz="1450" dirty="0"/>
          </a:p>
          <a:p>
            <a:pPr marL="342900" indent="-342900">
              <a:spcAft>
                <a:spcPts val="800"/>
              </a:spcAft>
              <a:buSzPct val="100000"/>
              <a:buChar char="•"/>
            </a:pPr>
            <a:r>
              <a:rPr lang="en-US" sz="1450" dirty="0">
                <a:solidFill>
                  <a:schemeClr val="tx1"/>
                </a:solidFill>
              </a:rPr>
              <a:t>Khai thác mô tả sản phẩm bằng xử lý ngôn ngữ tự nhiên để cải thiện dự đoán giá</a:t>
            </a:r>
            <a:endParaRPr lang="en-US" sz="1450" dirty="0"/>
          </a:p>
          <a:p>
            <a:pPr marL="342900" indent="-342900">
              <a:spcAft>
                <a:spcPts val="800"/>
              </a:spcAft>
              <a:buSzPct val="100000"/>
              <a:buChar char="•"/>
            </a:pPr>
            <a:r>
              <a:rPr lang="en-US" sz="1450" dirty="0">
                <a:solidFill>
                  <a:schemeClr val="tx1"/>
                </a:solidFill>
              </a:rPr>
              <a:t>Triển khai thật bằng waitress hoặc gunicorn, bật HTTPS</a:t>
            </a:r>
            <a:endParaRPr lang="en-US" sz="1450" dirty="0"/>
          </a:p>
        </p:txBody>
      </p:sp>
      <p:sp>
        <p:nvSpPr>
          <p:cNvPr id="10" name="Text 0"/>
          <p:cNvSpPr/>
          <p:nvPr>
            <p:ph idx="101" type="body" hasCustomPrompt="1"/>
          </p:nvPr>
        </p:nvSpPr>
        <p:spPr>
          <a:xfrm>
            <a:off x="594360" y="1234440"/>
            <a:ext cx="10972800" cy="4937760"/>
          </a:xfrm>
          <a:prstGeom prst="rect">
            <a:avLst/>
          </a:prstGeom>
          <a:noFill/>
          <a:ln/>
        </p:spPr>
        <p:txBody>
          <a:bodyPr wrap="square" rtlCol="0"/>
          <a:lstStyle/>
          <a:p>
            <a:pPr algn="l" indent="0" marL="0">
              <a:buNone/>
            </a:pPr>
            <a:endParaRPr lang="en-US" sz="1500" dirty="0"/>
          </a:p>
        </p:txBody>
      </p:sp>
      <p:sp>
        <p:nvSpPr>
          <p:cNvPr id="11" name="Text 1"/>
          <p:cNvSpPr/>
          <p:nvPr>
            <p:ph idx="103" hasCustomPrompt="1"/>
          </p:nvPr>
        </p:nvSpPr>
        <p:spPr>
          <a:xfrm>
            <a:off x="11247120" y="6355080"/>
            <a:ext cx="457200" cy="274320"/>
          </a:xfrm>
          <a:prstGeom prst="rect">
            <a:avLst/>
          </a:prstGeom>
          <a:noFill/>
          <a:ln/>
        </p:spPr>
        <p:txBody>
          <a:bodyPr wrap="square" rtlCol="0"/>
          <a:lstStyle/>
          <a:p>
            <a:pPr algn="r" indent="0" marL="0">
              <a:buNone/>
            </a:pP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glow3"/>
          <p:cNvSpPr/>
          <p:nvPr/>
        </p:nvSpPr>
        <p:spPr>
          <a:xfrm>
            <a:off x="-1645920" y="3108960"/>
            <a:ext cx="4937760" cy="4937760"/>
          </a:xfrm>
          <a:prstGeom prst="ellipse">
            <a:avLst/>
          </a:prstGeom>
          <a:solidFill>
            <a:srgbClr val="2A2470"/>
          </a:solidFill>
          <a:ln w="12700">
            <a:solidFill>
              <a:srgbClr val="2A2470"/>
            </a:solidFill>
            <a:prstDash val="solid"/>
          </a:ln>
        </p:spPr>
      </p:sp>
      <p:sp>
        <p:nvSpPr>
          <p:cNvPr id="3" name="glow4"/>
          <p:cNvSpPr/>
          <p:nvPr/>
        </p:nvSpPr>
        <p:spPr>
          <a:xfrm>
            <a:off x="9509760" y="-1097280"/>
            <a:ext cx="4206240" cy="4206240"/>
          </a:xfrm>
          <a:prstGeom prst="ellipse">
            <a:avLst/>
          </a:prstGeom>
          <a:solidFill>
            <a:srgbClr val="16305A"/>
          </a:solidFill>
          <a:ln w="12700">
            <a:solidFill>
              <a:srgbClr val="16305A"/>
            </a:solidFill>
            <a:prstDash val="solid"/>
          </a:ln>
        </p:spPr>
      </p:sp>
      <p:sp>
        <p:nvSpPr>
          <p:cNvPr id="4" name="Text 2"/>
          <p:cNvSpPr txBox="1"/>
          <p:nvPr/>
        </p:nvSpPr>
        <p:spPr>
          <a:xfrm>
            <a:off x="822960" y="2286000"/>
            <a:ext cx="10515600" cy="914400"/>
          </a:xfrm>
          <a:prstGeom prst="rect">
            <a:avLst/>
          </a:prstGeom>
          <a:noFill/>
          <a:ln/>
        </p:spPr>
        <p:txBody>
          <a:bodyPr wrap="square" lIns="0" tIns="0" rIns="0" bIns="0" rtlCol="0" anchor="ctr"/>
          <a:lstStyle/>
          <a:p>
            <a:pPr indent="0" marL="0">
              <a:buNone/>
            </a:pPr>
            <a:r>
              <a:rPr lang="en-US" sz="3400" b="1" dirty="0">
                <a:solidFill>
                  <a:srgbClr val="FFFFFF"/>
                </a:solidFill>
              </a:rPr>
              <a:t>Cảm ơn thầy cô và các bạn đã lắng nghe</a:t>
            </a:r>
            <a:endParaRPr lang="en-US" sz="3400" dirty="0"/>
          </a:p>
        </p:txBody>
      </p:sp>
      <p:sp>
        <p:nvSpPr>
          <p:cNvPr id="5" name="Text 3"/>
          <p:cNvSpPr txBox="1"/>
          <p:nvPr/>
        </p:nvSpPr>
        <p:spPr>
          <a:xfrm>
            <a:off x="822960" y="3246120"/>
            <a:ext cx="10515600" cy="457200"/>
          </a:xfrm>
          <a:prstGeom prst="rect">
            <a:avLst/>
          </a:prstGeom>
          <a:noFill/>
          <a:ln/>
        </p:spPr>
        <p:txBody>
          <a:bodyPr wrap="square" lIns="0" tIns="0" rIns="0" bIns="0" rtlCol="0" anchor="ctr"/>
          <a:lstStyle/>
          <a:p>
            <a:pPr indent="0" marL="0">
              <a:buNone/>
            </a:pPr>
            <a:r>
              <a:rPr lang="en-US" sz="1600" dirty="0">
                <a:solidFill>
                  <a:srgbClr val="C9CCE0"/>
                </a:solidFill>
              </a:rPr>
              <a:t>Nhóm sẵn sàng trả lời câu hỏi và demo trực tiếp hệ thống</a:t>
            </a:r>
            <a:endParaRPr lang="en-US" sz="1600" dirty="0"/>
          </a:p>
        </p:txBody>
      </p:sp>
      <p:sp>
        <p:nvSpPr>
          <p:cNvPr id="6" name="Text 4"/>
          <p:cNvSpPr txBox="1"/>
          <p:nvPr/>
        </p:nvSpPr>
        <p:spPr>
          <a:xfrm>
            <a:off x="822960" y="4069080"/>
            <a:ext cx="10515600" cy="320040"/>
          </a:xfrm>
          <a:prstGeom prst="rect">
            <a:avLst/>
          </a:prstGeom>
          <a:noFill/>
          <a:ln/>
        </p:spPr>
        <p:txBody>
          <a:bodyPr wrap="square" lIns="0" tIns="0" rIns="0" bIns="0" rtlCol="0" anchor="ctr"/>
          <a:lstStyle/>
          <a:p>
            <a:pPr indent="0" marL="0">
              <a:buNone/>
            </a:pPr>
            <a:r>
              <a:rPr lang="en-US" sz="1300" b="1" dirty="0">
                <a:solidFill>
                  <a:srgbClr val="8E8BE8"/>
                </a:solidFill>
              </a:rPr>
              <a:t>Mã nguồn:  </a:t>
            </a:r>
            <a:pPr indent="0" marL="0">
              <a:buNone/>
            </a:pPr>
            <a:r>
              <a:rPr lang="en-US" sz="1300" dirty="0">
                <a:solidFill>
                  <a:srgbClr val="C9CCE0"/>
                </a:solidFill>
              </a:rPr>
              <a:t>github.com/Mthu06/beautyprice-analytics</a:t>
            </a:r>
            <a:endParaRPr lang="en-US" sz="1300" dirty="0"/>
          </a:p>
        </p:txBody>
      </p:sp>
      <p:sp>
        <p:nvSpPr>
          <p:cNvPr id="7" name="Text 5"/>
          <p:cNvSpPr txBox="1"/>
          <p:nvPr/>
        </p:nvSpPr>
        <p:spPr>
          <a:xfrm>
            <a:off x="822960" y="4434840"/>
            <a:ext cx="10515600" cy="320040"/>
          </a:xfrm>
          <a:prstGeom prst="rect">
            <a:avLst/>
          </a:prstGeom>
          <a:noFill/>
          <a:ln/>
        </p:spPr>
        <p:txBody>
          <a:bodyPr wrap="square" lIns="0" tIns="0" rIns="0" bIns="0" rtlCol="0" anchor="ctr"/>
          <a:lstStyle/>
          <a:p>
            <a:pPr indent="0" marL="0">
              <a:buNone/>
            </a:pPr>
            <a:r>
              <a:rPr lang="en-US" sz="1300" dirty="0">
                <a:solidFill>
                  <a:srgbClr val="A7ACC4"/>
                </a:solidFill>
              </a:rPr>
              <a:t>Tài khoản demo:  admin / Admin@123  ·  user / User@123</a:t>
            </a:r>
            <a:endParaRPr lang="en-US" sz="1300" dirty="0"/>
          </a:p>
        </p:txBody>
      </p:sp>
      <p:sp>
        <p:nvSpPr>
          <p:cNvPr id="9" name="Text 0"/>
          <p:cNvSpPr/>
          <p:nvPr>
            <p:ph idx="100" type="title" hasCustomPrompt="1"/>
          </p:nvPr>
        </p:nvSpPr>
        <p:spPr>
          <a:xfrm>
            <a:off x="822960" y="2103120"/>
            <a:ext cx="10515600" cy="1371600"/>
          </a:xfrm>
          <a:prstGeom prst="rect">
            <a:avLst/>
          </a:prstGeom>
          <a:noFill/>
          <a:ln/>
        </p:spPr>
        <p:txBody>
          <a:bodyPr wrap="square" rtlCol="0"/>
          <a:lstStyle/>
          <a:p>
            <a:pPr algn="l" indent="0" marL="0">
              <a:buNone/>
            </a:pPr>
            <a:endParaRPr lang="en-US" sz="4000" dirty="0"/>
          </a:p>
        </p:txBody>
      </p:sp>
      <p:sp>
        <p:nvSpPr>
          <p:cNvPr id="10" name="Text 0"/>
          <p:cNvSpPr/>
          <p:nvPr>
            <p:ph idx="101" type="body" hasCustomPrompt="1"/>
          </p:nvPr>
        </p:nvSpPr>
        <p:spPr>
          <a:xfrm>
            <a:off x="822960" y="3566160"/>
            <a:ext cx="10515600" cy="2011680"/>
          </a:xfrm>
          <a:prstGeom prst="rect">
            <a:avLst/>
          </a:prstGeom>
          <a:noFill/>
          <a:ln/>
        </p:spPr>
        <p:txBody>
          <a:bodyPr wrap="square" rtlCol="0"/>
          <a:lstStyle/>
          <a:p>
            <a:pPr algn="l" indent="0" marL="0">
              <a:buNone/>
            </a:pPr>
            <a:endParaRPr lang="en-US" sz="1600" dirty="0"/>
          </a:p>
        </p:txBody>
      </p:sp>
    </p:spTree>
  </p:cSld>
  <p:clrMapOvr>
    <a:masterClrMapping/>
  </p:clrMapOvr>
</p:sld>
</file>

<file path=ppt/theme/theme1.xml><?xml version="1.0" encoding="utf-8"?>
<a:theme xmlns:a="http://schemas.openxmlformats.org/drawingml/2006/main" name="BeautyPrice">
  <a:themeElements>
    <a:clrScheme name="BeautyPrice">
      <a:dk1>
        <a:srgbClr val="12141C"/>
      </a:dk1>
      <a:lt1>
        <a:srgbClr val="FFFFFF"/>
      </a:lt1>
      <a:dk2>
        <a:srgbClr val="1E2142"/>
      </a:dk2>
      <a:lt2>
        <a:srgbClr val="F4F5FA"/>
      </a:lt2>
      <a:accent1>
        <a:srgbClr val="4F46E5"/>
      </a:accent1>
      <a:accent2>
        <a:srgbClr val="2A78D6"/>
      </a:accent2>
      <a:accent3>
        <a:srgbClr val="1BAF7A"/>
      </a:accent3>
      <a:accent4>
        <a:srgbClr val="EB6834"/>
      </a:accent4>
      <a:accent5>
        <a:srgbClr val="E87BA4"/>
      </a:accent5>
      <a:accent6>
        <a:srgbClr val="EDA100"/>
      </a:accent6>
      <a:hlink>
        <a:srgbClr val="2A78D6"/>
      </a:hlink>
      <a:folHlink>
        <a:srgbClr val="6250D6"/>
      </a:folHlink>
    </a:clrScheme>
    <a:fontScheme name="BeautyPr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BeautyPrice Intelligence</dc:title>
  <dc:subject>PptxGenJS Presentation</dc:subject>
  <dc:creator>Nhom do an BeautyPrice Intelligence</dc:creator>
  <cp:lastModifiedBy>Nhom do an BeautyPrice Intelligence</cp:lastModifiedBy>
  <cp:revision>1</cp:revision>
  <dcterms:created xsi:type="dcterms:W3CDTF">2026-10-29T09:58:03Z</dcterms:created>
  <dcterms:modified xsi:type="dcterms:W3CDTF">2026-10-29T09:58:03Z</dcterms:modified>
</cp:coreProperties>
</file>